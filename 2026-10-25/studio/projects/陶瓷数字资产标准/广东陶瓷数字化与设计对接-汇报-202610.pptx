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31720"/>
          </a:xfrm>
          <a:prstGeom prst="rect">
            <a:avLst/>
          </a:prstGeom>
          <a:solidFill>
            <a:srgbClr val="21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12191695" cy="82296"/>
          </a:xfrm>
          <a:prstGeom prst="rect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D2D8"/>
                </a:solidFill>
                <a:latin typeface="微软雅黑"/>
                <a:ea typeface="微软雅黑"/>
              </a:rPr>
              <a:t>《陶瓷技艺数字资产 设计应用管理规范》项目组 · 调研汇报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微软雅黑"/>
                <a:ea typeface="微软雅黑"/>
              </a:rPr>
              <a:t>广东陶瓷数字化现况与设计—企业对接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8036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5432A"/>
                </a:solidFill>
                <a:latin typeface="微软雅黑"/>
                <a:ea typeface="微软雅黑"/>
              </a:rPr>
              <a:t>汇报要点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45E66"/>
                </a:solidFill>
                <a:latin typeface="微软雅黑"/>
                <a:ea typeface="微软雅黑"/>
              </a:rPr>
              <a:t>制造侧数字化已系统化 · 断点集中“设计—制造交接层” · 数据要素实践已开跑 · 标准机会＝把交接数据变成可管理的资产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4632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1282E"/>
                </a:solidFill>
                <a:latin typeface="微软雅黑"/>
                <a:ea typeface="微软雅黑"/>
              </a:rPr>
              <a:t>汇报人：陈柏志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45E66"/>
                </a:solidFill>
                <a:latin typeface="微软雅黑"/>
                <a:ea typeface="微软雅黑"/>
              </a:rPr>
              <a:t>2026 年 10 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2356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49B"/>
                </a:solidFill>
                <a:latin typeface="微软雅黑"/>
                <a:ea typeface="微软雅黑"/>
              </a:rPr>
              <a:t>依据：广东五线桌面调研（10-22）· 组内案例整理（10-23 收）· 2026-10 扩展检索｜每页脚注编号对应附录来源清单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0" y="484632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F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4832604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331F"/>
                </a:solidFill>
                <a:latin typeface="微软雅黑"/>
                <a:ea typeface="微软雅黑"/>
              </a:rPr>
              <a:t>内部资料 · 保密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5432A"/>
                </a:solidFill>
                <a:latin typeface="微软雅黑"/>
                <a:ea typeface="微软雅黑"/>
              </a:rPr>
              <a:t>00 · 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1282E"/>
                </a:solidFill>
                <a:latin typeface="微软雅黑"/>
                <a:ea typeface="微软雅黑"/>
              </a:rPr>
              <a:t>结论先行：四个判断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5855" cy="9525"/>
          </a:xfrm>
          <a:prstGeom prst="rect">
            <a:avLst/>
          </a:prstGeom>
          <a:solidFill>
            <a:srgbClr val="E7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949B"/>
                </a:solidFill>
                <a:latin typeface="微软雅黑"/>
                <a:ea typeface="微软雅黑"/>
              </a:rPr>
              <a:t>来源：[S1][S2][S5][S6][S7][S22][S23] 见附录来源清单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C949B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88720"/>
            <a:ext cx="11185855" cy="1170432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" y="1353312"/>
            <a:ext cx="841248" cy="841248"/>
          </a:xfrm>
          <a:prstGeom prst="roundRect">
            <a:avLst>
              <a:gd name="adj" fmla="val 6000"/>
            </a:avLst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353312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316736"/>
            <a:ext cx="97228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21282E"/>
                </a:solidFill>
                <a:latin typeface="微软雅黑"/>
                <a:ea typeface="微软雅黑"/>
              </a:rPr>
              <a:t>制造侧已系统化  </a:t>
            </a:r>
            <a:r>
              <a:rPr sz="900" b="0" i="0">
                <a:solidFill>
                  <a:srgbClr val="8C949B"/>
                </a:solidFill>
                <a:latin typeface="微软雅黑"/>
                <a:ea typeface="微软雅黑"/>
              </a:rPr>
              <a:t>　[S1][S2]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45E66"/>
                </a:solidFill>
                <a:latin typeface="微软雅黑"/>
                <a:ea typeface="微软雅黑"/>
              </a:rPr>
              <a:t>潮州 850+ 家陶瓷及配套企业完成数字化转型、覆盖率超 50%、合格率稳定 99.5%+；佛山规上工业企业数字化转型率超 80%、累计 80 家数字化示范工厂（2026-10）。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487168"/>
            <a:ext cx="11185855" cy="1170432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2651760"/>
            <a:ext cx="841248" cy="841248"/>
          </a:xfrm>
          <a:prstGeom prst="roundRect">
            <a:avLst>
              <a:gd name="adj" fmla="val 6000"/>
            </a:avLst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651760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9928" y="2615184"/>
            <a:ext cx="97228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21282E"/>
                </a:solidFill>
                <a:latin typeface="微软雅黑"/>
                <a:ea typeface="微软雅黑"/>
              </a:rPr>
              <a:t>断点在交接层  </a:t>
            </a:r>
            <a:r>
              <a:rPr sz="900" b="0" i="0">
                <a:solidFill>
                  <a:srgbClr val="8C949B"/>
                </a:solidFill>
                <a:latin typeface="微软雅黑"/>
                <a:ea typeface="微软雅黑"/>
              </a:rPr>
              <a:t>　[S22]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45E66"/>
                </a:solidFill>
                <a:latin typeface="微软雅黑"/>
                <a:ea typeface="微软雅黑"/>
              </a:rPr>
              <a:t>22 项设计—制造交接数据仅 2 项被系统管理（均在喷墨装备侧），8 项仍靠纸质 / 微信 / 经验——空白集中在权利与留证。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85616"/>
            <a:ext cx="11185855" cy="1170432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950208"/>
            <a:ext cx="841248" cy="841248"/>
          </a:xfrm>
          <a:prstGeom prst="roundRect">
            <a:avLst>
              <a:gd name="adj" fmla="val 6000"/>
            </a:avLst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950208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09928" y="3913632"/>
            <a:ext cx="97228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21282E"/>
                </a:solidFill>
                <a:latin typeface="微软雅黑"/>
                <a:ea typeface="微软雅黑"/>
              </a:rPr>
              <a:t>数据资产化已开跑  </a:t>
            </a:r>
            <a:r>
              <a:rPr sz="900" b="0" i="0">
                <a:solidFill>
                  <a:srgbClr val="8C949B"/>
                </a:solidFill>
                <a:latin typeface="微软雅黑"/>
                <a:ea typeface="微软雅黑"/>
              </a:rPr>
              <a:t>　[S5][S6][S7][S8]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45E66"/>
                </a:solidFill>
                <a:latin typeface="微软雅黑"/>
                <a:ea typeface="微软雅黑"/>
              </a:rPr>
              <a:t>众陶联「交易证据链证书」2023-05 在广州数据交易所挂牌，助企业成本认定与完税、税负降约三成，闯出千万级数据业务收入；「陶瓷指纹」区块链存证落地。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84064"/>
            <a:ext cx="11185855" cy="1170432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9224" y="5248656"/>
            <a:ext cx="841248" cy="841248"/>
          </a:xfrm>
          <a:prstGeom prst="roundRect">
            <a:avLst>
              <a:gd name="adj" fmla="val 6000"/>
            </a:avLst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5248656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9928" y="5212080"/>
            <a:ext cx="97228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21282E"/>
                </a:solidFill>
                <a:latin typeface="微软雅黑"/>
                <a:ea typeface="微软雅黑"/>
              </a:rPr>
              <a:t>标准机会＝把交接数据变成可管理资产  </a:t>
            </a:r>
            <a:r>
              <a:rPr sz="900" b="0" i="0">
                <a:solidFill>
                  <a:srgbClr val="8C949B"/>
                </a:solidFill>
                <a:latin typeface="微软雅黑"/>
                <a:ea typeface="微软雅黑"/>
              </a:rPr>
              <a:t>　[S22][S23]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45E66"/>
                </a:solidFill>
                <a:latin typeface="微软雅黑"/>
                <a:ea typeface="微软雅黑"/>
              </a:rPr>
              <a:t>不与任何在产系统冲突，补的是系统间的“接口真空”；对标日韩欧盟后确认：工艺条件与可审计质量正是本标准的增量。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5432A"/>
                </a:solidFill>
                <a:latin typeface="微软雅黑"/>
                <a:ea typeface="微软雅黑"/>
              </a:rPr>
              <a:t>01 · 任务与框架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1282E"/>
                </a:solidFill>
                <a:latin typeface="微软雅黑"/>
                <a:ea typeface="微软雅黑"/>
              </a:rPr>
              <a:t>标准方向已收紧：管“进入设计、使用与交付”的条件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5855" cy="9525"/>
          </a:xfrm>
          <a:prstGeom prst="rect">
            <a:avLst/>
          </a:prstGeom>
          <a:solidFill>
            <a:srgbClr val="E7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949B"/>
                </a:solidFill>
                <a:latin typeface="微软雅黑"/>
                <a:ea typeface="微软雅黑"/>
              </a:rPr>
              <a:t>来源：[S23] 组内《现有案例整理》(2026-10)；说明会原始材料见项目 raw/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C949B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70432"/>
            <a:ext cx="11185855" cy="512064"/>
          </a:xfrm>
          <a:prstGeom prst="roundRect">
            <a:avLst>
              <a:gd name="adj" fmla="val 6000"/>
            </a:avLst>
          </a:prstGeom>
          <a:solidFill>
            <a:srgbClr val="F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170432"/>
            <a:ext cx="10783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1282E"/>
                </a:solidFill>
                <a:latin typeface="微软雅黑"/>
                <a:ea typeface="微软雅黑"/>
              </a:rPr>
              <a:t>根据专家意见，范围从“数字资产大而全”收紧为：</a:t>
            </a:r>
            <a:r>
              <a:rPr sz="1250" b="1" i="0">
                <a:solidFill>
                  <a:srgbClr val="8E331F"/>
                </a:solidFill>
                <a:latin typeface="微软雅黑"/>
                <a:ea typeface="微软雅黑"/>
              </a:rPr>
              <a:t>数字资产进入设计、使用与交付时的管理条件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0240"/>
            <a:ext cx="3602736" cy="3017520"/>
          </a:xfrm>
          <a:prstGeom prst="roundRect">
            <a:avLst>
              <a:gd name="adj" fmla="val 6000"/>
            </a:avLst>
          </a:prstGeom>
          <a:solidFill>
            <a:srgbClr val="E9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920240"/>
            <a:ext cx="3602736" cy="566928"/>
          </a:xfrm>
          <a:prstGeom prst="roundRect">
            <a:avLst>
              <a:gd name="adj" fmla="val 6000"/>
            </a:avLst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36027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藏品与文化资料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670048"/>
            <a:ext cx="32004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21282E"/>
                </a:solidFill>
                <a:latin typeface="微软雅黑"/>
                <a:ea typeface="微软雅黑"/>
              </a:rPr>
              <a:t>标本、器物图像、三维模型、档案文献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45E66"/>
                </a:solidFill>
                <a:latin typeface="微软雅黑"/>
                <a:ea typeface="微软雅黑"/>
              </a:rPr>
              <a:t>· 能证明：对象与文化信息已被记录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45E66"/>
                </a:solidFill>
                <a:latin typeface="微软雅黑"/>
                <a:ea typeface="微软雅黑"/>
              </a:rPr>
              <a:t>· 还需检查：格式、尺度是否满足用途？权限与适用条件是否明确？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3107" y="1920240"/>
            <a:ext cx="3602736" cy="3017520"/>
          </a:xfrm>
          <a:prstGeom prst="roundRect">
            <a:avLst>
              <a:gd name="adj" fmla="val 6000"/>
            </a:avLst>
          </a:prstGeom>
          <a:solidFill>
            <a:srgbClr val="E9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3107" y="1920240"/>
            <a:ext cx="3602736" cy="566928"/>
          </a:xfrm>
          <a:prstGeom prst="roundRect">
            <a:avLst>
              <a:gd name="adj" fmla="val 6000"/>
            </a:avLst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3107" y="1920240"/>
            <a:ext cx="36027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技艺知识与过程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2563" y="2670048"/>
            <a:ext cx="32004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21282E"/>
                </a:solidFill>
                <a:latin typeface="微软雅黑"/>
                <a:ea typeface="微软雅黑"/>
              </a:rPr>
              <a:t>材料、工具、工序、操作、条件及质量判断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45E66"/>
                </a:solidFill>
                <a:latin typeface="微软雅黑"/>
                <a:ea typeface="微软雅黑"/>
              </a:rPr>
              <a:t>· 能证明：技艺内容得到表达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45E66"/>
                </a:solidFill>
                <a:latin typeface="微软雅黑"/>
                <a:ea typeface="微软雅黑"/>
              </a:rPr>
              <a:t>· 还需检查：能否关联具体资源、试验条件和设计任务；须区分“知识”与“一次操作记录”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4" y="1920240"/>
            <a:ext cx="3602736" cy="3017520"/>
          </a:xfrm>
          <a:prstGeom prst="roundRect">
            <a:avLst>
              <a:gd name="adj" fmla="val 6000"/>
            </a:avLst>
          </a:prstGeom>
          <a:solidFill>
            <a:srgbClr val="F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83294" y="1920240"/>
            <a:ext cx="3602736" cy="566928"/>
          </a:xfrm>
          <a:prstGeom prst="roundRect">
            <a:avLst>
              <a:gd name="adj" fmla="val 6000"/>
            </a:avLst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83294" y="1920240"/>
            <a:ext cx="36027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设计应用数字资产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0" y="2670048"/>
            <a:ext cx="32004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21282E"/>
                </a:solidFill>
                <a:latin typeface="微软雅黑"/>
                <a:ea typeface="微软雅黑"/>
              </a:rPr>
              <a:t>可在约定条件下用于设计的纹样、器型、模型、工艺知识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45E66"/>
                </a:solidFill>
                <a:latin typeface="微软雅黑"/>
                <a:ea typeface="微软雅黑"/>
              </a:rPr>
              <a:t>· 须由许可、格式及使用证据共同支撑“设计可用性”判断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45E66"/>
                </a:solidFill>
                <a:latin typeface="微软雅黑"/>
                <a:ea typeface="微软雅黑"/>
              </a:rPr>
              <a:t>· 选用、修改、工艺适配、衍生与交付记录是否明确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212080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5212080"/>
            <a:ext cx="10783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1282E"/>
                </a:solidFill>
                <a:latin typeface="微软雅黑"/>
                <a:ea typeface="微软雅黑"/>
              </a:rPr>
              <a:t>本次汇报：</a:t>
            </a:r>
            <a:r>
              <a:rPr sz="1150" b="0" i="0">
                <a:solidFill>
                  <a:srgbClr val="545E66"/>
                </a:solidFill>
                <a:latin typeface="微软雅黑"/>
                <a:ea typeface="微软雅黑"/>
              </a:rPr>
              <a:t>聚焦第三层“设计应用数字资产”在广东的实证；国内外案例（景德镇/日/韩/欧盟）收编为对标章。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5432A"/>
                </a:solidFill>
                <a:latin typeface="微软雅黑"/>
                <a:ea typeface="微软雅黑"/>
              </a:rPr>
              <a:t>02 · 产业底图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1282E"/>
                </a:solidFill>
                <a:latin typeface="微软雅黑"/>
                <a:ea typeface="微软雅黑"/>
              </a:rPr>
              <a:t>设计落地所需的上游，在广东闭环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5855" cy="9525"/>
          </a:xfrm>
          <a:prstGeom prst="rect">
            <a:avLst/>
          </a:prstGeom>
          <a:solidFill>
            <a:srgbClr val="E7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949B"/>
                </a:solidFill>
                <a:latin typeface="微软雅黑"/>
                <a:ea typeface="微软雅黑"/>
              </a:rPr>
              <a:t>来源：[S1][S2][S22] 项目底稿（产业地图线，2026-10-22）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C949B"/>
                </a:solidFill>
                <a:latin typeface="微软雅黑"/>
                <a:ea typeface="微软雅黑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52144"/>
          <a:ext cx="11185853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0100"/>
                <a:gridCol w="2282827"/>
                <a:gridCol w="7852926"/>
              </a:tblGrid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区域</a:t>
                      </a:r>
                    </a:p>
                  </a:txBody>
                  <a:tcPr anchor="ctr" marL="73152" marR="73152" marT="18288" marB="18288">
                    <a:solidFill>
                      <a:srgbClr val="2128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定位</a:t>
                      </a:r>
                    </a:p>
                  </a:txBody>
                  <a:tcPr anchor="ctr" marL="73152" marR="73152" marT="18288" marB="18288">
                    <a:solidFill>
                      <a:srgbClr val="2128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关键事实（节选）</a:t>
                      </a:r>
                    </a:p>
                  </a:txBody>
                  <a:tcPr anchor="ctr" marL="73152" marR="73152" marT="18288" marB="18288">
                    <a:solidFill>
                      <a:srgbClr val="21282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21282E"/>
                          </a:solidFill>
                          <a:latin typeface="微软雅黑"/>
                          <a:ea typeface="微软雅黑"/>
                        </a:rPr>
                        <a:t>佛山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建陶/岩板/卫浴总部＋研发＋设计＋会展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2025 墙地砖产量 4.19 亿㎡；卫生陶瓷 2023 万件；超 15 家建陶前 20 强总部研发中心在佛山；装备企业 200+ 家、装备产值占全国 80% 以上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21282E"/>
                          </a:solidFill>
                          <a:latin typeface="微软雅黑"/>
                          <a:ea typeface="微软雅黑"/>
                        </a:rPr>
                        <a:t>潮州</a:t>
                      </a:r>
                    </a:p>
                  </a:txBody>
                  <a:tcPr anchor="ctr" marL="73152" marR="73152" marT="18288" marB="18288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日用/卫生/艺术/电子陶瓷</a:t>
                      </a:r>
                    </a:p>
                  </a:txBody>
                  <a:tcPr anchor="ctr" marL="73152" marR="73152" marT="18288" marB="18288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2025 规上陶瓷企业 496 家、工业总产值约 700 亿元；智能坐便器 638 万台/年、占全国三成以上；约 80% 智能马桶陶瓷底座产自潮州</a:t>
                      </a:r>
                    </a:p>
                  </a:txBody>
                  <a:tcPr anchor="ctr" marL="73152" marR="73152" marT="18288" marB="18288">
                    <a:solidFill>
                      <a:srgbClr val="F3F4F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21282E"/>
                          </a:solidFill>
                          <a:latin typeface="微软雅黑"/>
                          <a:ea typeface="微软雅黑"/>
                        </a:rPr>
                        <a:t>肇庆/江门/清远/云浮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佛山产能主要承接区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2024 年产能分别列全国地级市第 2 / 4 / 5 / 10（ODM 贴牌为主，品牌设计与工厂工艺两地分离）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21282E"/>
                          </a:solidFill>
                          <a:latin typeface="微软雅黑"/>
                          <a:ea typeface="微软雅黑"/>
                        </a:rPr>
                        <a:t>深圳/东莞</a:t>
                      </a:r>
                    </a:p>
                  </a:txBody>
                  <a:tcPr anchor="ctr" marL="73152" marR="73152" marT="18288" marB="18288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工业/电子陶瓷、设计与供应链</a:t>
                      </a:r>
                    </a:p>
                  </a:txBody>
                  <a:tcPr anchor="ctr" marL="73152" marR="73152" marT="18288" marB="18288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顺络电子、信柏精密等；潮州三环集团 2024 年净利 21.94 亿元，陶瓷插芯全球市占率约 70%</a:t>
                      </a:r>
                    </a:p>
                  </a:txBody>
                  <a:tcPr anchor="ctr" marL="73152" marR="73152" marT="18288" marB="18288">
                    <a:solidFill>
                      <a:srgbClr val="F3F4F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709160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4709160"/>
            <a:ext cx="10783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1282E"/>
                </a:solidFill>
                <a:latin typeface="微软雅黑"/>
                <a:ea typeface="微软雅黑"/>
              </a:rPr>
              <a:t>产业链一行：</a:t>
            </a:r>
            <a:r>
              <a:rPr sz="1050" b="0" i="0">
                <a:solidFill>
                  <a:srgbClr val="545E66"/>
                </a:solidFill>
                <a:latin typeface="微软雅黑"/>
                <a:ea typeface="微软雅黑"/>
              </a:rPr>
              <a:t>原料→坯料→成型→施釉→装饰→烧成→冷加工→包装｜装备（科达/恒力泰）＋釉料墨水（道氏/康立泰）＋色料＋花纸＋模具——设计落地所需上游省内即可配齐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440680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5440680"/>
            <a:ext cx="10783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E331F"/>
                </a:solidFill>
                <a:latin typeface="微软雅黑"/>
                <a:ea typeface="微软雅黑"/>
              </a:rPr>
              <a:t>对标准的意义：</a:t>
            </a:r>
            <a:r>
              <a:rPr sz="1150" b="0" i="0">
                <a:solidFill>
                  <a:srgbClr val="21282E"/>
                </a:solidFill>
                <a:latin typeface="微软雅黑"/>
                <a:ea typeface="微软雅黑"/>
              </a:rPr>
              <a:t>“总部设计＋异地制造”的结构决定了：设计资产天然跨主体流动，权属与交接必须被显式管理。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5432A"/>
                </a:solidFill>
                <a:latin typeface="微软雅黑"/>
                <a:ea typeface="微软雅黑"/>
              </a:rPr>
              <a:t>03 · 数字化现况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1282E"/>
                </a:solidFill>
                <a:latin typeface="微软雅黑"/>
                <a:ea typeface="微软雅黑"/>
              </a:rPr>
              <a:t>制造侧：已是“系统化车间”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5855" cy="9525"/>
          </a:xfrm>
          <a:prstGeom prst="rect">
            <a:avLst/>
          </a:prstGeom>
          <a:solidFill>
            <a:srgbClr val="E7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949B"/>
                </a:solidFill>
                <a:latin typeface="微软雅黑"/>
                <a:ea typeface="微软雅黑"/>
              </a:rPr>
              <a:t>来源：[S1] 潮州日报 2026-10-08；[S22] 项目底稿（数字化现况线）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C949B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52144"/>
            <a:ext cx="3602736" cy="1225296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280160"/>
            <a:ext cx="41148" cy="969264"/>
          </a:xfrm>
          <a:prstGeom prst="rect">
            <a:avLst/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61872"/>
            <a:ext cx="320040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1282E"/>
                </a:solidFill>
                <a:latin typeface="微软雅黑"/>
                <a:ea typeface="微软雅黑"/>
              </a:rPr>
              <a:t>三环集团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45E66"/>
                </a:solidFill>
                <a:latin typeface="微软雅黑"/>
                <a:ea typeface="微软雅黑"/>
              </a:rPr>
              <a:t>核心产线全面上线 AI 机器视觉检测，识别微米级缺陷；探索「AI＋材料配方开发」加快新材料研发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3107" y="1152144"/>
            <a:ext cx="3602736" cy="1225296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4547" y="1280160"/>
            <a:ext cx="41148" cy="969264"/>
          </a:xfrm>
          <a:prstGeom prst="rect">
            <a:avLst/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7427" y="1261872"/>
            <a:ext cx="320040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1282E"/>
                </a:solidFill>
                <a:latin typeface="微软雅黑"/>
                <a:ea typeface="微软雅黑"/>
              </a:rPr>
              <a:t>蒙娜丽莎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45E66"/>
                </a:solidFill>
                <a:latin typeface="微软雅黑"/>
                <a:ea typeface="微软雅黑"/>
              </a:rPr>
              <a:t>AI 质检准确率 99.8%；排产 7 天→1 天；智能仿版 7 天→5 分钟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4" y="1152144"/>
            <a:ext cx="3602736" cy="1225296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4734" y="1280160"/>
            <a:ext cx="41148" cy="969264"/>
          </a:xfrm>
          <a:prstGeom prst="rect">
            <a:avLst/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4" y="1261872"/>
            <a:ext cx="320040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1282E"/>
                </a:solidFill>
                <a:latin typeface="微软雅黑"/>
                <a:ea typeface="微软雅黑"/>
              </a:rPr>
              <a:t>新明珠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45E66"/>
                </a:solidFill>
                <a:latin typeface="微软雅黑"/>
                <a:ea typeface="微软雅黑"/>
              </a:rPr>
              <a:t>5G 全连接工厂；20 通道全数码喷绘无水釉线；“一砖一证”产品溯源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487168"/>
            <a:ext cx="3602736" cy="1225296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2615184"/>
            <a:ext cx="41148" cy="969264"/>
          </a:xfrm>
          <a:prstGeom prst="rect">
            <a:avLst/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596896"/>
            <a:ext cx="320040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1282E"/>
                </a:solidFill>
                <a:latin typeface="微软雅黑"/>
                <a:ea typeface="微软雅黑"/>
              </a:rPr>
              <a:t>金意陶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45E66"/>
                </a:solidFill>
                <a:latin typeface="微软雅黑"/>
                <a:ea typeface="微软雅黑"/>
              </a:rPr>
              <a:t>生产数据采集率 93%+；“一单到底”全流程订单管理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3107" y="2487168"/>
            <a:ext cx="3602736" cy="1225296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4547" y="2615184"/>
            <a:ext cx="41148" cy="969264"/>
          </a:xfrm>
          <a:prstGeom prst="rect">
            <a:avLst/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67427" y="2596896"/>
            <a:ext cx="320040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1282E"/>
                </a:solidFill>
                <a:latin typeface="微软雅黑"/>
                <a:ea typeface="微软雅黑"/>
              </a:rPr>
              <a:t>樱井 / 恒洁 / 皓明 / 安彼（潮州）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45E66"/>
                </a:solidFill>
                <a:latin typeface="微软雅黑"/>
                <a:ea typeface="微软雅黑"/>
              </a:rPr>
              <a:t>AI 配方优化算法＋智能窑炉控制系统，实现全流程数据驱动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4" y="2487168"/>
            <a:ext cx="3602736" cy="1225296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74734" y="2615184"/>
            <a:ext cx="41148" cy="969264"/>
          </a:xfrm>
          <a:prstGeom prst="rect">
            <a:avLst/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7614" y="2596896"/>
            <a:ext cx="320040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1282E"/>
                </a:solidFill>
                <a:latin typeface="微软雅黑"/>
                <a:ea typeface="微软雅黑"/>
              </a:rPr>
              <a:t>东鹏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45E66"/>
                </a:solidFill>
                <a:latin typeface="微软雅黑"/>
                <a:ea typeface="微软雅黑"/>
              </a:rPr>
              <a:t>2012 年即建数字化设计研发平台（烧成专家数据库）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977639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E9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3977639"/>
            <a:ext cx="10783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1282E"/>
                </a:solidFill>
                <a:latin typeface="微软雅黑"/>
                <a:ea typeface="微软雅黑"/>
              </a:rPr>
              <a:t>面上数据（潮州）：</a:t>
            </a:r>
            <a:r>
              <a:rPr sz="1150" b="0" i="0">
                <a:solidFill>
                  <a:srgbClr val="545E66"/>
                </a:solidFill>
                <a:latin typeface="微软雅黑"/>
                <a:ea typeface="微软雅黑"/>
              </a:rPr>
              <a:t>850+ 家企业完成转型｜数字化覆盖率超 50%｜生产效率 +40%｜合格率 99.5%+｜检测效率提升 10 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846320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4846320"/>
            <a:ext cx="10783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1282E"/>
                </a:solidFill>
                <a:latin typeface="微软雅黑"/>
                <a:ea typeface="微软雅黑"/>
              </a:rPr>
              <a:t>佛山（2026-10）：</a:t>
            </a:r>
            <a:r>
              <a:rPr sz="1150" b="0" i="0">
                <a:solidFill>
                  <a:srgbClr val="545E66"/>
                </a:solidFill>
                <a:latin typeface="微软雅黑"/>
                <a:ea typeface="微软雅黑"/>
              </a:rPr>
              <a:t>规上工业企业数字化转型率超 80%；累计 80 家数字化智能化示范工厂、3 家“灯塔工厂”；陶瓷行业 6 家数字化工厂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623560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" y="5623560"/>
            <a:ext cx="10783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E331F"/>
                </a:solidFill>
                <a:latin typeface="微软雅黑"/>
                <a:ea typeface="微软雅黑"/>
              </a:rPr>
              <a:t>讲法：</a:t>
            </a:r>
            <a:r>
              <a:rPr sz="1150" b="0" i="0">
                <a:solidFill>
                  <a:srgbClr val="21282E"/>
                </a:solidFill>
                <a:latin typeface="微软雅黑"/>
                <a:ea typeface="微软雅黑"/>
              </a:rPr>
              <a:t>数据不缺了——缺的是把“数据”组织成“资产”的规则。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5432A"/>
                </a:solidFill>
                <a:latin typeface="微软雅黑"/>
                <a:ea typeface="微软雅黑"/>
              </a:rPr>
              <a:t>03 · 数字化现况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1282E"/>
                </a:solidFill>
                <a:latin typeface="微软雅黑"/>
                <a:ea typeface="微软雅黑"/>
              </a:rPr>
              <a:t>政策节点全部落在 2026—2030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5855" cy="9525"/>
          </a:xfrm>
          <a:prstGeom prst="rect">
            <a:avLst/>
          </a:prstGeom>
          <a:solidFill>
            <a:srgbClr val="E7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949B"/>
                </a:solidFill>
                <a:latin typeface="微软雅黑"/>
                <a:ea typeface="微软雅黑"/>
              </a:rPr>
              <a:t>来源：[S1] 潮州日报；[S2] 中新网；[S3] 21 世纪经济报道；[S22] 项目底稿（政策线）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C949B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310128"/>
            <a:ext cx="10607040" cy="19050"/>
          </a:xfrm>
          <a:prstGeom prst="rect">
            <a:avLst/>
          </a:prstGeom>
          <a:solidFill>
            <a:srgbClr val="E7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3259836"/>
            <a:ext cx="128016" cy="128016"/>
          </a:xfrm>
          <a:prstGeom prst="ellipse">
            <a:avLst/>
          </a:prstGeom>
          <a:solidFill>
            <a:srgbClr val="3A5A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3736" y="1463040"/>
            <a:ext cx="1700784" cy="1481328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" y="1554480"/>
            <a:ext cx="1499616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B5432A"/>
                </a:solidFill>
                <a:latin typeface="微软雅黑"/>
                <a:ea typeface="微软雅黑"/>
              </a:rPr>
              <a:t>2022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21282E"/>
                </a:solidFill>
                <a:latin typeface="微软雅黑"/>
                <a:ea typeface="微软雅黑"/>
              </a:rPr>
              <a:t>佛府办函〔2022〕183 号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45E66"/>
                </a:solidFill>
                <a:latin typeface="微软雅黑"/>
                <a:ea typeface="微软雅黑"/>
              </a:rPr>
              <a:t>陶瓷“隐形生产经验数据化、软件化”，工艺由黑箱式向透明式转变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595" y="3017520"/>
            <a:ext cx="19050" cy="256032"/>
          </a:xfrm>
          <a:prstGeom prst="rect">
            <a:avLst/>
          </a:prstGeom>
          <a:solidFill>
            <a:srgbClr val="E7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06624" y="3259836"/>
            <a:ext cx="128016" cy="128016"/>
          </a:xfrm>
          <a:prstGeom prst="ellipse">
            <a:avLst/>
          </a:prstGeom>
          <a:solidFill>
            <a:srgbClr val="3A5A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984248" y="3611880"/>
            <a:ext cx="1700784" cy="1481328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93976" y="3703320"/>
            <a:ext cx="1499616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B5432A"/>
                </a:solidFill>
                <a:latin typeface="微软雅黑"/>
                <a:ea typeface="微软雅黑"/>
              </a:rPr>
              <a:t>2024.02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21282E"/>
                </a:solidFill>
                <a:latin typeface="微软雅黑"/>
                <a:ea typeface="微软雅黑"/>
              </a:rPr>
              <a:t>佛山建陶数字化转型白皮书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45E66"/>
                </a:solidFill>
                <a:latin typeface="微软雅黑"/>
                <a:ea typeface="微软雅黑"/>
              </a:rPr>
              <a:t>行业自动化程度高，但数字化偏低；已改造工厂存在数据未打通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1107" y="3310128"/>
            <a:ext cx="19050" cy="256032"/>
          </a:xfrm>
          <a:prstGeom prst="rect">
            <a:avLst/>
          </a:prstGeom>
          <a:solidFill>
            <a:srgbClr val="E7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17136" y="3259836"/>
            <a:ext cx="128016" cy="128016"/>
          </a:xfrm>
          <a:prstGeom prst="ellipse">
            <a:avLst/>
          </a:prstGeom>
          <a:solidFill>
            <a:srgbClr val="B5432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94760" y="1463040"/>
            <a:ext cx="1700784" cy="1481328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04488" y="1554480"/>
            <a:ext cx="1499616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B5432A"/>
                </a:solidFill>
                <a:latin typeface="微软雅黑"/>
                <a:ea typeface="微软雅黑"/>
              </a:rPr>
              <a:t>2026.03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21282E"/>
                </a:solidFill>
                <a:latin typeface="微软雅黑"/>
                <a:ea typeface="微软雅黑"/>
              </a:rPr>
              <a:t>潮州“1+N”政策体系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45E66"/>
                </a:solidFill>
                <a:latin typeface="微软雅黑"/>
                <a:ea typeface="微软雅黑"/>
              </a:rPr>
              <a:t>创建人工智能全面赋能传统产业提质升级试点市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1619" y="3017520"/>
            <a:ext cx="19050" cy="256032"/>
          </a:xfrm>
          <a:prstGeom prst="rect">
            <a:avLst/>
          </a:prstGeom>
          <a:solidFill>
            <a:srgbClr val="E7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27647" y="3259836"/>
            <a:ext cx="128016" cy="128016"/>
          </a:xfrm>
          <a:prstGeom prst="ellipse">
            <a:avLst/>
          </a:prstGeom>
          <a:solidFill>
            <a:srgbClr val="B5432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05271" y="3611880"/>
            <a:ext cx="1700784" cy="1481328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4999" y="3703320"/>
            <a:ext cx="1499616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B5432A"/>
                </a:solidFill>
                <a:latin typeface="微软雅黑"/>
                <a:ea typeface="微软雅黑"/>
              </a:rPr>
              <a:t>2026.09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21282E"/>
                </a:solidFill>
                <a:latin typeface="微软雅黑"/>
                <a:ea typeface="微软雅黑"/>
              </a:rPr>
              <a:t>行业“十五五”指导意见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45E66"/>
                </a:solidFill>
                <a:latin typeface="微软雅黑"/>
                <a:ea typeface="微软雅黑"/>
              </a:rPr>
              <a:t>2030 年建陶/卫陶关键工序数控化率 85% / 70%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82130" y="3310128"/>
            <a:ext cx="19050" cy="256032"/>
          </a:xfrm>
          <a:prstGeom prst="rect">
            <a:avLst/>
          </a:prstGeom>
          <a:solidFill>
            <a:srgbClr val="E7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38160" y="3259836"/>
            <a:ext cx="128016" cy="128016"/>
          </a:xfrm>
          <a:prstGeom prst="ellipse">
            <a:avLst/>
          </a:prstGeom>
          <a:solidFill>
            <a:srgbClr val="B5432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15784" y="1463040"/>
            <a:ext cx="1700784" cy="1481328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25512" y="1554480"/>
            <a:ext cx="1499616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B5432A"/>
                </a:solidFill>
                <a:latin typeface="微软雅黑"/>
                <a:ea typeface="微软雅黑"/>
              </a:rPr>
              <a:t>2028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21282E"/>
                </a:solidFill>
                <a:latin typeface="微软雅黑"/>
                <a:ea typeface="微软雅黑"/>
              </a:rPr>
              <a:t>潮州行动目标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45E66"/>
                </a:solidFill>
                <a:latin typeface="微软雅黑"/>
                <a:ea typeface="微软雅黑"/>
              </a:rPr>
              <a:t>规上企业数字化全覆盖；产值破千亿；智能卫浴市占率超 50%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92643" y="3017520"/>
            <a:ext cx="19050" cy="256032"/>
          </a:xfrm>
          <a:prstGeom prst="rect">
            <a:avLst/>
          </a:prstGeom>
          <a:solidFill>
            <a:srgbClr val="E7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48672" y="3259836"/>
            <a:ext cx="128016" cy="128016"/>
          </a:xfrm>
          <a:prstGeom prst="ellipse">
            <a:avLst/>
          </a:prstGeom>
          <a:solidFill>
            <a:srgbClr val="B5432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226296" y="3611880"/>
            <a:ext cx="1700784" cy="1481328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36024" y="3703320"/>
            <a:ext cx="1499616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B5432A"/>
                </a:solidFill>
                <a:latin typeface="微软雅黑"/>
                <a:ea typeface="微软雅黑"/>
              </a:rPr>
              <a:t>2026.10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21282E"/>
                </a:solidFill>
                <a:latin typeface="微软雅黑"/>
                <a:ea typeface="微软雅黑"/>
              </a:rPr>
              <a:t>佛山最新数据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45E66"/>
                </a:solidFill>
                <a:latin typeface="微软雅黑"/>
                <a:ea typeface="微软雅黑"/>
              </a:rPr>
              <a:t>规上工业数字化转型率超 80%；80 家数字化示范工厂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03155" y="3310128"/>
            <a:ext cx="19050" cy="256032"/>
          </a:xfrm>
          <a:prstGeom prst="rect">
            <a:avLst/>
          </a:prstGeom>
          <a:solidFill>
            <a:srgbClr val="E7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2920" y="5349240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5349240"/>
            <a:ext cx="10783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E331F"/>
                </a:solidFill>
                <a:latin typeface="微软雅黑"/>
                <a:ea typeface="微软雅黑"/>
              </a:rPr>
              <a:t>对标准的意义：</a:t>
            </a:r>
            <a:r>
              <a:rPr sz="1150" b="0" i="0">
                <a:solidFill>
                  <a:srgbClr val="21282E"/>
                </a:solidFill>
                <a:latin typeface="微软雅黑"/>
                <a:ea typeface="微软雅黑"/>
              </a:rPr>
              <a:t>标准若 2026—2027 出稿，可同时服务潮州 2028 数字化改造验收与全行业 2030 数控化率统计的「数据口径统一」——政策节点就是采标动力。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5432A"/>
                </a:solidFill>
                <a:latin typeface="微软雅黑"/>
                <a:ea typeface="微软雅黑"/>
              </a:rPr>
              <a:t>03 · 数字化现况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1282E"/>
                </a:solidFill>
                <a:latin typeface="微软雅黑"/>
                <a:ea typeface="微软雅黑"/>
              </a:rPr>
              <a:t>断点不在制造、不在文件格式，在“交接层”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5855" cy="9525"/>
          </a:xfrm>
          <a:prstGeom prst="rect">
            <a:avLst/>
          </a:prstGeom>
          <a:solidFill>
            <a:srgbClr val="E7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949B"/>
                </a:solidFill>
                <a:latin typeface="微软雅黑"/>
                <a:ea typeface="微软雅黑"/>
              </a:rPr>
              <a:t>来源：[S22] 项目底稿（设计—制造连接线＋数字化现况线）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C949B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33856"/>
            <a:ext cx="6492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1282E"/>
                </a:solidFill>
                <a:latin typeface="微软雅黑"/>
                <a:ea typeface="微软雅黑"/>
              </a:rPr>
              <a:t>22 项「设计—制造交接数据」的系统覆盖判定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17904"/>
            <a:ext cx="590203" cy="475488"/>
          </a:xfrm>
          <a:prstGeom prst="rect">
            <a:avLst/>
          </a:prstGeom>
          <a:solidFill>
            <a:srgbClr val="3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17904"/>
            <a:ext cx="59020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</a:rPr>
              <a:t>系统管理 2 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3123" y="1517904"/>
            <a:ext cx="3541221" cy="475488"/>
          </a:xfrm>
          <a:prstGeom prst="rect">
            <a:avLst/>
          </a:prstGeom>
          <a:solidFill>
            <a:srgbClr val="A97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3123" y="1517904"/>
            <a:ext cx="354122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</a:rPr>
              <a:t>部分覆盖 12 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34344" y="1517904"/>
            <a:ext cx="2360814" cy="475488"/>
          </a:xfrm>
          <a:prstGeom prst="rect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4344" y="1517904"/>
            <a:ext cx="236081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</a:rPr>
              <a:t>纸质/微信/经验 8 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066543"/>
            <a:ext cx="6492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949B"/>
                </a:solidFill>
                <a:latin typeface="微软雅黑"/>
                <a:ea typeface="微软雅黑"/>
              </a:rPr>
              <a:t>系统管理的 2 项（分色方案、喷墨文件）均在喷墨装备侧、封闭于设备商体系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395728"/>
            <a:ext cx="6492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331F"/>
                </a:solidFill>
                <a:latin typeface="微软雅黑"/>
                <a:ea typeface="微软雅黑"/>
              </a:rPr>
              <a:t>8 项完全空白：</a:t>
            </a:r>
            <a:r>
              <a:rPr sz="950" b="0" i="0">
                <a:solidFill>
                  <a:srgbClr val="8C949B"/>
                </a:solidFill>
                <a:latin typeface="微软雅黑"/>
                <a:ea typeface="微软雅黑"/>
              </a:rPr>
              <a:t>（空白即标准价值所在）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72491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F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711196"/>
            <a:ext cx="15179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331F"/>
                </a:solidFill>
                <a:latin typeface="微软雅黑"/>
                <a:ea typeface="微软雅黑"/>
              </a:rPr>
              <a:t>权利状态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57984" y="272491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F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57984" y="2711196"/>
            <a:ext cx="15179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331F"/>
                </a:solidFill>
                <a:latin typeface="微软雅黑"/>
                <a:ea typeface="微软雅黑"/>
              </a:rPr>
              <a:t>保密等级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13048" y="272491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F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13048" y="2711196"/>
            <a:ext cx="15179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331F"/>
                </a:solidFill>
                <a:latin typeface="微软雅黑"/>
                <a:ea typeface="微软雅黑"/>
              </a:rPr>
              <a:t>网版参数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68112" y="272491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F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68112" y="2711196"/>
            <a:ext cx="15179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331F"/>
                </a:solidFill>
                <a:latin typeface="微软雅黑"/>
                <a:ea typeface="微软雅黑"/>
              </a:rPr>
              <a:t>分道留样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200400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F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186684"/>
            <a:ext cx="15179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331F"/>
                </a:solidFill>
                <a:latin typeface="微软雅黑"/>
                <a:ea typeface="微软雅黑"/>
              </a:rPr>
              <a:t>模具修改记录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57984" y="3200400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F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57984" y="3186684"/>
            <a:ext cx="15179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331F"/>
                </a:solidFill>
                <a:latin typeface="微软雅黑"/>
                <a:ea typeface="微软雅黑"/>
              </a:rPr>
              <a:t>工艺适配说明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3048" y="3200400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F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13048" y="3186684"/>
            <a:ext cx="15179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331F"/>
                </a:solidFill>
                <a:latin typeface="微软雅黑"/>
                <a:ea typeface="微软雅黑"/>
              </a:rPr>
              <a:t>首件签认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68112" y="3200400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F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68112" y="3186684"/>
            <a:ext cx="15179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331F"/>
                </a:solidFill>
                <a:latin typeface="微软雅黑"/>
                <a:ea typeface="微软雅黑"/>
              </a:rPr>
              <a:t>ECN 变更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69480" y="1133856"/>
            <a:ext cx="4416552" cy="2432304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79" y="1316736"/>
            <a:ext cx="3977639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A5A66"/>
                </a:solidFill>
                <a:latin typeface="微软雅黑"/>
                <a:ea typeface="微软雅黑"/>
              </a:rPr>
              <a:t>“已改造工厂仍有很多没有打通的数字接口，上下游存在很多堵点。”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950" b="0" i="0">
                <a:solidFill>
                  <a:srgbClr val="8C949B"/>
                </a:solidFill>
                <a:latin typeface="微软雅黑"/>
                <a:ea typeface="微软雅黑"/>
              </a:rPr>
              <a:t>—— 众陶联产业互联网白皮书（2024）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45E66"/>
                </a:solidFill>
                <a:latin typeface="微软雅黑"/>
                <a:ea typeface="微软雅黑"/>
              </a:rPr>
              <a:t>代表性陶瓷企业中 40.74% 仅局部部署数字化、14.81% 尚未开展（行业调研口径）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69480" y="3712463"/>
            <a:ext cx="4416552" cy="1481328"/>
          </a:xfrm>
          <a:prstGeom prst="roundRect">
            <a:avLst>
              <a:gd name="adj" fmla="val 6000"/>
            </a:avLst>
          </a:prstGeom>
          <a:solidFill>
            <a:srgbClr val="E9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79" y="3877056"/>
            <a:ext cx="397763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A5A66"/>
                </a:solidFill>
                <a:latin typeface="微软雅黑"/>
                <a:ea typeface="微软雅黑"/>
              </a:rPr>
              <a:t>结构判断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45E66"/>
                </a:solidFill>
                <a:latin typeface="微软雅黑"/>
                <a:ea typeface="微软雅黑"/>
              </a:rPr>
              <a:t>数字化强项全在制造执行与质检；空白全在权利与留证＋变更管理。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3712463"/>
            <a:ext cx="6492240" cy="1481328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6" y="3877056"/>
            <a:ext cx="6126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1282E"/>
                </a:solidFill>
                <a:latin typeface="微软雅黑"/>
                <a:ea typeface="微软雅黑"/>
              </a:rPr>
              <a:t>交接数据是什么？（6 组 22 项，详见 P16）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45E66"/>
                </a:solidFill>
                <a:latin typeface="微软雅黑"/>
                <a:ea typeface="微软雅黑"/>
              </a:rPr>
              <a:t>设计编号与权利状态、目标色与色差容限、喷墨/网版参数、3D 模型与收缩放尺、工艺卡与 BOM、打样轮次与首件签认、ECN 变更与批次关联——每项要求“版本＋责任人＋判定结果”。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413248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5413248"/>
            <a:ext cx="10783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E331F"/>
                </a:solidFill>
                <a:latin typeface="微软雅黑"/>
                <a:ea typeface="微软雅黑"/>
              </a:rPr>
              <a:t>本页结论：</a:t>
            </a:r>
            <a:r>
              <a:rPr sz="1150" b="0" i="0">
                <a:solidFill>
                  <a:srgbClr val="21282E"/>
                </a:solidFill>
                <a:latin typeface="微软雅黑"/>
                <a:ea typeface="微软雅黑"/>
              </a:rPr>
              <a:t>制造侧越系统化，“交接层”的空白越显眼——这正是本标准的落点。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5432A"/>
                </a:solidFill>
                <a:latin typeface="微软雅黑"/>
                <a:ea typeface="微软雅黑"/>
              </a:rPr>
              <a:t>04 · 数据资产化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1282E"/>
                </a:solidFill>
                <a:latin typeface="微软雅黑"/>
                <a:ea typeface="微软雅黑"/>
              </a:rPr>
              <a:t>先行案例：广东已经在“卖数据”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5855" cy="9525"/>
          </a:xfrm>
          <a:prstGeom prst="rect">
            <a:avLst/>
          </a:prstGeom>
          <a:solidFill>
            <a:srgbClr val="E7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949B"/>
                </a:solidFill>
                <a:latin typeface="微软雅黑"/>
                <a:ea typeface="微软雅黑"/>
              </a:rPr>
              <a:t>来源：[S4][S5][S6][S7][S8][S9] 广州数据交易所/南方都市报/21 世纪经济报道/新华社等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C949B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88720"/>
            <a:ext cx="3602736" cy="3246120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88720"/>
            <a:ext cx="3602736" cy="530352"/>
          </a:xfrm>
          <a:prstGeom prst="roundRect">
            <a:avLst>
              <a:gd name="adj" fmla="val 6000"/>
            </a:avLst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88720"/>
            <a:ext cx="3602736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众陶联 · 交易证据链证书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1883664"/>
            <a:ext cx="3145536" cy="2432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545E66"/>
                </a:solidFill>
                <a:latin typeface="微软雅黑"/>
                <a:ea typeface="微软雅黑"/>
              </a:rPr>
              <a:t>· 2023-05-10 于广州数据交易所正式挂牌（数据产品）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545E66"/>
                </a:solidFill>
                <a:latin typeface="微软雅黑"/>
                <a:ea typeface="微软雅黑"/>
              </a:rPr>
              <a:t>· 以“四本台账”构建交易证据链，帮陶瓷企业完成成本认定与完税，税负降约三成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8E331F"/>
                </a:solidFill>
                <a:latin typeface="微软雅黑"/>
                <a:ea typeface="微软雅黑"/>
              </a:rPr>
              <a:t>· 闯出千万级数据业务收入——陶瓷行业首批可交易数据产品之一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3107" y="1188720"/>
            <a:ext cx="3602736" cy="3246120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3107" y="1188720"/>
            <a:ext cx="3602736" cy="530352"/>
          </a:xfrm>
          <a:prstGeom prst="roundRect">
            <a:avLst>
              <a:gd name="adj" fmla="val 6000"/>
            </a:avLst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3107" y="1188720"/>
            <a:ext cx="3602736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陶瓷行业数据空间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0851" y="1883664"/>
            <a:ext cx="3145536" cy="2432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545E66"/>
                </a:solidFill>
                <a:latin typeface="微软雅黑"/>
                <a:ea typeface="微软雅黑"/>
              </a:rPr>
              <a:t>· 众陶联牵头建设，开放运营后经各地数据运营中心对接产区与数据要素市场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545E66"/>
                </a:solidFill>
                <a:latin typeface="微软雅黑"/>
                <a:ea typeface="微软雅黑"/>
              </a:rPr>
              <a:t>· 发布陶瓷行业大数据；2022 年联合工信部电子五所、中山大学建“陶瓷产业数字化联合实验室”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4" y="1188720"/>
            <a:ext cx="3602736" cy="3246120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83294" y="1188720"/>
            <a:ext cx="3602736" cy="530352"/>
          </a:xfrm>
          <a:prstGeom prst="roundRect">
            <a:avLst>
              <a:gd name="adj" fmla="val 6000"/>
            </a:avLst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4" y="1188720"/>
            <a:ext cx="3602736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陶瓷指纹 · 链上数字身份证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8" y="1883664"/>
            <a:ext cx="3145536" cy="2432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545E66"/>
                </a:solidFill>
                <a:latin typeface="微软雅黑"/>
                <a:ea typeface="微软雅黑"/>
              </a:rPr>
              <a:t>· 区块链存证为陶瓷作品提供可验证数字身份，破解“眼睛看、经验判”的鉴证困境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545E66"/>
                </a:solidFill>
                <a:latin typeface="微软雅黑"/>
                <a:ea typeface="微软雅黑"/>
              </a:rPr>
              <a:t>· 2026 年“数字身份证＋链上存证”实践见诸报道，版权保护先行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 i="0">
                <a:solidFill>
                  <a:srgbClr val="8C949B"/>
                </a:solidFill>
                <a:latin typeface="微软雅黑"/>
                <a:ea typeface="微软雅黑"/>
              </a:rPr>
              <a:t>· 报道来源：新华社（陶瓷指纹）／大江网（数字身份证，2026-06）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663440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663440"/>
            <a:ext cx="10783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E331F"/>
                </a:solidFill>
                <a:latin typeface="微软雅黑"/>
                <a:ea typeface="微软雅黑"/>
              </a:rPr>
              <a:t>讲法：</a:t>
            </a:r>
            <a:r>
              <a:rPr sz="1150" b="0" i="0">
                <a:solidFill>
                  <a:srgbClr val="21282E"/>
                </a:solidFill>
                <a:latin typeface="微软雅黑"/>
                <a:ea typeface="微软雅黑"/>
              </a:rPr>
              <a:t>这些实践证明“陶瓷数据能确权、能交易、能增值”——但它们都发生在交易与供应链端；设计端的资产化（纹样/器型/工艺知识的流通）仍是空白，恰是本标准的位置。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5432A"/>
                </a:solidFill>
                <a:latin typeface="微软雅黑"/>
                <a:ea typeface="微软雅黑"/>
              </a:rPr>
              <a:t>05 · 设计—制造怎么连接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1282E"/>
                </a:solidFill>
                <a:latin typeface="微软雅黑"/>
                <a:ea typeface="微软雅黑"/>
              </a:rPr>
              <a:t>四段式回路：总部设计＋异地制造＋打样对色＋版权登记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5855" cy="9525"/>
          </a:xfrm>
          <a:prstGeom prst="rect">
            <a:avLst/>
          </a:prstGeom>
          <a:solidFill>
            <a:srgbClr val="E7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949B"/>
                </a:solidFill>
                <a:latin typeface="微软雅黑"/>
                <a:ea typeface="微软雅黑"/>
              </a:rPr>
              <a:t>来源：[S22] 项目底稿（设计—制造连接线；JD/文献/判例证据）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C949B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88720"/>
            <a:ext cx="2487168" cy="1572768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88720"/>
            <a:ext cx="2487168" cy="457200"/>
          </a:xfrm>
          <a:prstGeom prst="roundRect">
            <a:avLst>
              <a:gd name="adj" fmla="val 6000"/>
            </a:avLst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88720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① 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1737360"/>
            <a:ext cx="219456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45E66"/>
                </a:solidFill>
                <a:latin typeface="微软雅黑"/>
                <a:ea typeface="微软雅黑"/>
              </a:rPr>
              <a:t>总部设计部＋外部设计机构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45E66"/>
                </a:solidFill>
                <a:latin typeface="微软雅黑"/>
                <a:ea typeface="微软雅黑"/>
              </a:rPr>
              <a:t>图案 / 花色 / 器型 / 新工艺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40380" y="1810512"/>
            <a:ext cx="329184" cy="310896"/>
          </a:xfrm>
          <a:prstGeom prst="rightArrow">
            <a:avLst/>
          </a:prstGeom>
          <a:solidFill>
            <a:srgbClr val="E7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19856" y="1188720"/>
            <a:ext cx="2487168" cy="1572768"/>
          </a:xfrm>
          <a:prstGeom prst="roundRect">
            <a:avLst>
              <a:gd name="adj" fmla="val 6000"/>
            </a:avLst>
          </a:prstGeom>
          <a:solidFill>
            <a:srgbClr val="F8EBE7"/>
          </a:solidFill>
          <a:ln w="17780">
            <a:solidFill>
              <a:srgbClr val="B54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19856" y="1188720"/>
            <a:ext cx="2487168" cy="457200"/>
          </a:xfrm>
          <a:prstGeom prst="roundRect">
            <a:avLst>
              <a:gd name="adj" fmla="val 6000"/>
            </a:avLst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1188720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② 工艺会签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737360"/>
            <a:ext cx="219456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0" i="0">
                <a:solidFill>
                  <a:srgbClr val="545E66"/>
                </a:solidFill>
                <a:latin typeface="微软雅黑"/>
                <a:ea typeface="微软雅黑"/>
              </a:rPr>
              <a:t>烧成收缩 / 釉料发色 / 喷墨通道 / 网版目数 / 模具结构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0" i="0">
                <a:solidFill>
                  <a:srgbClr val="545E66"/>
                </a:solidFill>
                <a:latin typeface="微软雅黑"/>
                <a:ea typeface="微软雅黑"/>
              </a:rPr>
              <a:t>产出：可生产版设计＋工艺卡草案＋打样申请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36592" y="2459736"/>
            <a:ext cx="1042415" cy="256032"/>
          </a:xfrm>
          <a:prstGeom prst="roundRect">
            <a:avLst>
              <a:gd name="adj" fmla="val 50000"/>
            </a:avLst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2446020"/>
            <a:ext cx="1042415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微软雅黑"/>
                <a:ea typeface="微软雅黑"/>
              </a:rPr>
              <a:t>闸门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57316" y="1810512"/>
            <a:ext cx="329184" cy="310896"/>
          </a:xfrm>
          <a:prstGeom prst="rightArrow">
            <a:avLst/>
          </a:prstGeom>
          <a:solidFill>
            <a:srgbClr val="E7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36792" y="1188720"/>
            <a:ext cx="2487168" cy="1572768"/>
          </a:xfrm>
          <a:prstGeom prst="roundRect">
            <a:avLst>
              <a:gd name="adj" fmla="val 6000"/>
            </a:avLst>
          </a:prstGeom>
          <a:solidFill>
            <a:srgbClr val="F8EBE7"/>
          </a:solidFill>
          <a:ln w="17780">
            <a:solidFill>
              <a:srgbClr val="B54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36792" y="1188720"/>
            <a:ext cx="2487168" cy="457200"/>
          </a:xfrm>
          <a:prstGeom prst="roundRect">
            <a:avLst>
              <a:gd name="adj" fmla="val 6000"/>
            </a:avLst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1188720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③ 打样 · 对色 · 留样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1737360"/>
            <a:ext cx="219456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0" i="0">
                <a:solidFill>
                  <a:srgbClr val="545E66"/>
                </a:solidFill>
                <a:latin typeface="微软雅黑"/>
                <a:ea typeface="微软雅黑"/>
              </a:rPr>
              <a:t>小样→中试→上线试产→分道留样→对色→签样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0" i="0">
                <a:solidFill>
                  <a:srgbClr val="545E66"/>
                </a:solidFill>
                <a:latin typeface="微软雅黑"/>
                <a:ea typeface="微软雅黑"/>
              </a:rPr>
              <a:t>人工密集的“翻译”环节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53528" y="2459736"/>
            <a:ext cx="1042415" cy="256032"/>
          </a:xfrm>
          <a:prstGeom prst="roundRect">
            <a:avLst>
              <a:gd name="adj" fmla="val 50000"/>
            </a:avLst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53528" y="2446020"/>
            <a:ext cx="1042415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微软雅黑"/>
                <a:ea typeface="微软雅黑"/>
              </a:rPr>
              <a:t>闸门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74252" y="1810512"/>
            <a:ext cx="329184" cy="310896"/>
          </a:xfrm>
          <a:prstGeom prst="rightArrow">
            <a:avLst/>
          </a:prstGeom>
          <a:solidFill>
            <a:srgbClr val="E7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53728" y="1188720"/>
            <a:ext cx="2487168" cy="1572768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53728" y="1188720"/>
            <a:ext cx="2487168" cy="457200"/>
          </a:xfrm>
          <a:prstGeom prst="roundRect">
            <a:avLst>
              <a:gd name="adj" fmla="val 6000"/>
            </a:avLst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53728" y="1188720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④ 异地量产＋检选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1737360"/>
            <a:ext cx="219456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45E66"/>
                </a:solidFill>
                <a:latin typeface="微软雅黑"/>
                <a:ea typeface="微软雅黑"/>
              </a:rPr>
              <a:t>外迁基地：成型→施釉→喷墨印花→烧成→检选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45E66"/>
                </a:solidFill>
                <a:latin typeface="微软雅黑"/>
                <a:ea typeface="微软雅黑"/>
              </a:rPr>
              <a:t>色差/尺寸/变形判定</a:t>
            </a:r>
          </a:p>
        </p:txBody>
      </p:sp>
      <p:sp>
        <p:nvSpPr>
          <p:cNvPr id="31" name="Left Arrow 30"/>
          <p:cNvSpPr/>
          <p:nvPr/>
        </p:nvSpPr>
        <p:spPr>
          <a:xfrm>
            <a:off x="1463040" y="2926080"/>
            <a:ext cx="9052560" cy="219456"/>
          </a:xfrm>
          <a:prstGeom prst="leftArrow">
            <a:avLst/>
          </a:prstGeom>
          <a:solidFill>
            <a:srgbClr val="E7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11680" y="3172968"/>
            <a:ext cx="8138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45E66"/>
                </a:solidFill>
                <a:latin typeface="微软雅黑"/>
                <a:ea typeface="微软雅黑"/>
              </a:rPr>
              <a:t>反馈回设计：色差/变形/批次不稳 → 改设计或改工艺 → 新版本（版本管理常缺失）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43814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1282E"/>
                </a:solidFill>
                <a:latin typeface="微软雅黑"/>
                <a:ea typeface="微软雅黑"/>
              </a:rPr>
              <a:t>三套并行的“文件语言”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3767328"/>
            <a:ext cx="3602736" cy="877824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" y="3895344"/>
            <a:ext cx="41148" cy="621792"/>
          </a:xfrm>
          <a:prstGeom prst="rect">
            <a:avLst/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858768"/>
            <a:ext cx="32004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3A5A66"/>
                </a:solidFill>
                <a:latin typeface="微软雅黑"/>
                <a:ea typeface="微软雅黑"/>
              </a:rPr>
              <a:t>设计语言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45E66"/>
                </a:solidFill>
                <a:latin typeface="微软雅黑"/>
                <a:ea typeface="微软雅黑"/>
              </a:rPr>
              <a:t>分层 PSD/AI → 多通道配色 → RGB → ICC 曲线 → 按机台裁剪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3107" y="3767328"/>
            <a:ext cx="3602736" cy="877824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84547" y="3895344"/>
            <a:ext cx="41148" cy="621792"/>
          </a:xfrm>
          <a:prstGeom prst="rect">
            <a:avLst/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67427" y="3858768"/>
            <a:ext cx="32004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3A5A66"/>
                </a:solidFill>
                <a:latin typeface="微软雅黑"/>
                <a:ea typeface="微软雅黑"/>
              </a:rPr>
              <a:t>机台语言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45E66"/>
                </a:solidFill>
                <a:latin typeface="微软雅黑"/>
                <a:ea typeface="微软雅黑"/>
              </a:rPr>
              <a:t>喷墨文件（机台/幅宽/通道映射）、网版目数与透墨量、激光雕刻辊筒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83294" y="3767328"/>
            <a:ext cx="3602736" cy="877824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74734" y="3895344"/>
            <a:ext cx="41148" cy="621792"/>
          </a:xfrm>
          <a:prstGeom prst="rect">
            <a:avLst/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57614" y="3858768"/>
            <a:ext cx="32004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3A5A66"/>
                </a:solidFill>
                <a:latin typeface="微软雅黑"/>
                <a:ea typeface="微软雅黑"/>
              </a:rPr>
              <a:t>模具语言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45E66"/>
                </a:solidFill>
                <a:latin typeface="微软雅黑"/>
                <a:ea typeface="微软雅黑"/>
              </a:rPr>
              <a:t>3D → 按烧成收缩放尺 → 原胎模 → 石膏试验工作模 → 树脂模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4809744"/>
            <a:ext cx="11185855" cy="768096"/>
          </a:xfrm>
          <a:prstGeom prst="roundRect">
            <a:avLst>
              <a:gd name="adj" fmla="val 6000"/>
            </a:avLst>
          </a:prstGeom>
          <a:solidFill>
            <a:srgbClr val="E9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376" y="4919472"/>
            <a:ext cx="1074694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A5A66"/>
                </a:solidFill>
                <a:latin typeface="微软雅黑"/>
                <a:ea typeface="微软雅黑"/>
              </a:rPr>
              <a:t>接口人是岗位，不是系统：</a:t>
            </a:r>
            <a:r>
              <a:rPr sz="1050" b="0" i="0">
                <a:solidFill>
                  <a:srgbClr val="545E66"/>
                </a:solidFill>
                <a:latin typeface="微软雅黑"/>
                <a:ea typeface="微软雅黑"/>
              </a:rPr>
              <a:t>东鹏岩板产品经理 JD 明写“试制打样、确认颜色与工艺”；康立泰设计经理 JD 要求“喷墨/柔光釉/干粒工艺适配，全程负责打样、调色及量产迭代，沉淀标准化设计体系”。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5742432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" y="5742432"/>
            <a:ext cx="10783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E331F"/>
                </a:solidFill>
                <a:latin typeface="微软雅黑"/>
                <a:ea typeface="微软雅黑"/>
              </a:rPr>
              <a:t>讲法：</a:t>
            </a:r>
            <a:r>
              <a:rPr sz="1150" b="0" i="0">
                <a:solidFill>
                  <a:srgbClr val="21282E"/>
                </a:solidFill>
                <a:latin typeface="微软雅黑"/>
                <a:ea typeface="微软雅黑"/>
              </a:rPr>
              <a:t>两个闸门（②工艺会签、③打样对色）决定成败；标准若只管①的文件格式、不管③④的判定与留证，接口仍然断。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5432A"/>
                </a:solidFill>
                <a:latin typeface="微软雅黑"/>
                <a:ea typeface="微软雅黑"/>
              </a:rPr>
              <a:t>06 · 对接案例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1282E"/>
                </a:solidFill>
                <a:latin typeface="微软雅黑"/>
                <a:ea typeface="微软雅黑"/>
              </a:rPr>
              <a:t>平台侧：四条路径，全部线下为主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5855" cy="9525"/>
          </a:xfrm>
          <a:prstGeom prst="rect">
            <a:avLst/>
          </a:prstGeom>
          <a:solidFill>
            <a:srgbClr val="E7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949B"/>
                </a:solidFill>
                <a:latin typeface="微软雅黑"/>
                <a:ea typeface="微软雅黑"/>
              </a:rPr>
              <a:t>来源：[S10][S11][S12][S13][S14] 花城+/佛山+/搜狐/南方网/潮州政府网；[S22]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C949B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52144"/>
            <a:ext cx="5477256" cy="1481328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280160"/>
            <a:ext cx="41148" cy="1225296"/>
          </a:xfrm>
          <a:prstGeom prst="rect">
            <a:avLst/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61872"/>
            <a:ext cx="5029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1282E"/>
                </a:solidFill>
                <a:latin typeface="微软雅黑"/>
                <a:ea typeface="微软雅黑"/>
              </a:rPr>
              <a:t>广东工业设计城 → 禅城创新中心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45E66"/>
                </a:solidFill>
                <a:latin typeface="微软雅黑"/>
                <a:ea typeface="微软雅黑"/>
              </a:rPr>
              <a:t>顺德北滘（2009）：300+ 机构、近万名设计师。2024-12 禅城创新中心落户原鹰牌陶瓷生产基地改造的鹰创园（2020-12 开园，187.65 亩）——“厂改设计”的空间证据；引入 CAE 工业仿真、八校产学研。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1152144"/>
            <a:ext cx="5477256" cy="1481328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0216" y="1280160"/>
            <a:ext cx="41148" cy="1225296"/>
          </a:xfrm>
          <a:prstGeom prst="rect">
            <a:avLst/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1261872"/>
            <a:ext cx="5029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1282E"/>
                </a:solidFill>
                <a:latin typeface="微软雅黑"/>
                <a:ea typeface="微软雅黑"/>
              </a:rPr>
              <a:t>中潮工业设计创新人才基地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45E66"/>
                </a:solidFill>
                <a:latin typeface="微软雅黑"/>
                <a:ea typeface="微软雅黑"/>
              </a:rPr>
              <a:t>潮州（2021-11）：唯一工业设计人才平台，线上线下“云设计”资源整合，服务中小陶瓷企业；入选工信部首批“工业设计赋能中小企业”优秀案例（2023—2024）。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61488"/>
            <a:ext cx="5477256" cy="1481328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889504"/>
            <a:ext cx="41148" cy="1225296"/>
          </a:xfrm>
          <a:prstGeom prst="rect">
            <a:avLst/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871216"/>
            <a:ext cx="5029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1282E"/>
                </a:solidFill>
                <a:latin typeface="微软雅黑"/>
                <a:ea typeface="微软雅黑"/>
              </a:rPr>
              <a:t>潮州—罗湖创享岛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45E66"/>
                </a:solidFill>
                <a:latin typeface="微软雅黑"/>
                <a:ea typeface="微软雅黑"/>
              </a:rPr>
              <a:t>2023-05 签约，1330㎡“反向飞地”：“研发/设计在深圳＋生产在潮州”，跨市设计—制造分工的制度化样本。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2761488"/>
            <a:ext cx="5477256" cy="1481328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0216" y="2889504"/>
            <a:ext cx="41148" cy="1225296"/>
          </a:xfrm>
          <a:prstGeom prst="rect">
            <a:avLst/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3096" y="2871216"/>
            <a:ext cx="5029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1282E"/>
                </a:solidFill>
                <a:latin typeface="微软雅黑"/>
                <a:ea typeface="微软雅黑"/>
              </a:rPr>
              <a:t>潮州知识产权快维中心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45E66"/>
                </a:solidFill>
                <a:latin typeface="微软雅黑"/>
                <a:ea typeface="微软雅黑"/>
              </a:rPr>
              <a:t>外观专利预审扩至 29 类、授权 ≤10 个工作日；自研检索平台累计检索 6.5 万次——为设计确权提速的公共基础设施。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434840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434840"/>
            <a:ext cx="10783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E331F"/>
                </a:solidFill>
                <a:latin typeface="微软雅黑"/>
                <a:ea typeface="微软雅黑"/>
              </a:rPr>
              <a:t>观察：</a:t>
            </a:r>
            <a:r>
              <a:rPr sz="1150" b="0" i="0">
                <a:solidFill>
                  <a:srgbClr val="21282E"/>
                </a:solidFill>
                <a:latin typeface="微软雅黑"/>
                <a:ea typeface="微软雅黑"/>
              </a:rPr>
              <a:t>撮合靠对接会/赛事/园区/飞地；未发现设计端的线上撮合交易系统——唯一规模化线上撮合在采购端（众陶联）。设计资产的“流通市场”还不存在。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257800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5257800"/>
            <a:ext cx="10783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1282E"/>
                </a:solidFill>
                <a:latin typeface="微软雅黑"/>
                <a:ea typeface="微软雅黑"/>
              </a:rPr>
              <a:t>权利侧底座成熟：</a:t>
            </a:r>
            <a:r>
              <a:rPr sz="1050" b="0" i="0">
                <a:solidFill>
                  <a:srgbClr val="545E66"/>
                </a:solidFill>
                <a:latin typeface="微软雅黑"/>
                <a:ea typeface="微软雅黑"/>
              </a:rPr>
              <a:t>佛山 2024 年著作权登记 24338 件（全省首位）；快维中心 10 个工作日授权；司法判例明确 OEM 受托方连带责任（佛山判例赔 25 万元）。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5432A"/>
                </a:solidFill>
                <a:latin typeface="微软雅黑"/>
                <a:ea typeface="微软雅黑"/>
              </a:rPr>
              <a:t>06 · 对接案例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1282E"/>
                </a:solidFill>
                <a:latin typeface="微软雅黑"/>
                <a:ea typeface="微软雅黑"/>
              </a:rPr>
              <a:t>微观察：一次完整的设计—制造交接（清华美院 × 潮州松发）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5855" cy="9525"/>
          </a:xfrm>
          <a:prstGeom prst="rect">
            <a:avLst/>
          </a:prstGeom>
          <a:solidFill>
            <a:srgbClr val="E7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949B"/>
                </a:solidFill>
                <a:latin typeface="微软雅黑"/>
                <a:ea typeface="微软雅黑"/>
              </a:rPr>
              <a:t>来源：[S15] 清华大学美术学院官网，2021-01-13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C949B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1298448"/>
            <a:ext cx="28575" cy="3291840"/>
          </a:xfrm>
          <a:prstGeom prst="rect">
            <a:avLst/>
          </a:prstGeom>
          <a:solidFill>
            <a:srgbClr val="E7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1179576"/>
            <a:ext cx="155448" cy="155448"/>
          </a:xfrm>
          <a:prstGeom prst="ellipse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161288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1282E"/>
                </a:solidFill>
                <a:latin typeface="微软雅黑"/>
                <a:ea typeface="微软雅黑"/>
              </a:rPr>
              <a:t>步骤1 · 数字建模出稿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45E66"/>
                </a:solidFill>
                <a:latin typeface="微软雅黑"/>
                <a:ea typeface="微软雅黑"/>
              </a:rPr>
              <a:t>《“折忆折”系列手冲咖啡具》5 件套——折纸艺术 × 手冲咖啡文化；作者数字化建模完成设计稿</a:t>
            </a:r>
          </a:p>
        </p:txBody>
      </p:sp>
      <p:sp>
        <p:nvSpPr>
          <p:cNvPr id="11" name="Oval 10"/>
          <p:cNvSpPr/>
          <p:nvPr/>
        </p:nvSpPr>
        <p:spPr>
          <a:xfrm>
            <a:off x="859536" y="2075688"/>
            <a:ext cx="155448" cy="155448"/>
          </a:xfrm>
          <a:prstGeom prst="ellipse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05740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1282E"/>
                </a:solidFill>
                <a:latin typeface="微软雅黑"/>
                <a:ea typeface="微软雅黑"/>
              </a:rPr>
              <a:t>步骤2 · 赴产区打样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45E66"/>
                </a:solidFill>
                <a:latin typeface="微软雅黑"/>
                <a:ea typeface="微软雅黑"/>
              </a:rPr>
              <a:t>携稿赴广东潮州产区；松发陶瓷厂师傅提供工艺支持（致谢中明确）</a:t>
            </a:r>
          </a:p>
        </p:txBody>
      </p:sp>
      <p:sp>
        <p:nvSpPr>
          <p:cNvPr id="13" name="Oval 12"/>
          <p:cNvSpPr/>
          <p:nvPr/>
        </p:nvSpPr>
        <p:spPr>
          <a:xfrm>
            <a:off x="859536" y="2971800"/>
            <a:ext cx="155448" cy="155448"/>
          </a:xfrm>
          <a:prstGeom prst="ellipse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953512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1282E"/>
                </a:solidFill>
                <a:latin typeface="微软雅黑"/>
                <a:ea typeface="微软雅黑"/>
              </a:rPr>
              <a:t>步骤3 · 工艺路线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45E66"/>
                </a:solidFill>
                <a:latin typeface="微软雅黑"/>
                <a:ea typeface="微软雅黑"/>
              </a:rPr>
              <a:t>石膏精雕翻模 → 中温强化瓷注浆成型；机器雕刻＋手工切削打磨</a:t>
            </a:r>
          </a:p>
        </p:txBody>
      </p:sp>
      <p:sp>
        <p:nvSpPr>
          <p:cNvPr id="15" name="Oval 14"/>
          <p:cNvSpPr/>
          <p:nvPr/>
        </p:nvSpPr>
        <p:spPr>
          <a:xfrm>
            <a:off x="859536" y="3867912"/>
            <a:ext cx="155448" cy="155448"/>
          </a:xfrm>
          <a:prstGeom prst="ellipse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849624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1282E"/>
                </a:solidFill>
                <a:latin typeface="微软雅黑"/>
                <a:ea typeface="微软雅黑"/>
              </a:rPr>
              <a:t>步骤4 · 量产化完成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45E66"/>
                </a:solidFill>
                <a:latin typeface="微软雅黑"/>
                <a:ea typeface="微软雅黑"/>
              </a:rPr>
              <a:t>时间有限下经多次细节调整完成作品；获中国（德化）陶瓷工业设计大赛奖项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1188720"/>
            <a:ext cx="4965192" cy="3401568"/>
          </a:xfrm>
          <a:prstGeom prst="roundRect">
            <a:avLst>
              <a:gd name="adj" fmla="val 6000"/>
            </a:avLst>
          </a:prstGeom>
          <a:solidFill>
            <a:srgbClr val="F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1353312"/>
            <a:ext cx="44805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8E331F"/>
                </a:solidFill>
                <a:latin typeface="微软雅黑"/>
                <a:ea typeface="微软雅黑"/>
              </a:rPr>
              <a:t>这次交接实际经过了什么？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21282E"/>
                </a:solidFill>
                <a:latin typeface="微软雅黑"/>
                <a:ea typeface="微软雅黑"/>
              </a:rPr>
              <a:t>· 设计文件（数字模型）→ 已有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21282E"/>
                </a:solidFill>
                <a:latin typeface="微软雅黑"/>
                <a:ea typeface="微软雅黑"/>
              </a:rPr>
              <a:t>· 工艺会签（师傅经验判断）→ 无留痕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21282E"/>
                </a:solidFill>
                <a:latin typeface="微软雅黑"/>
                <a:ea typeface="微软雅黑"/>
              </a:rPr>
              <a:t>· 模具（石膏翻模）→ 无版本记录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21282E"/>
                </a:solidFill>
                <a:latin typeface="微软雅黑"/>
                <a:ea typeface="微软雅黑"/>
              </a:rPr>
              <a:t>· 打样迭代（多次细节调整）→ 无轮次记录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21282E"/>
                </a:solidFill>
                <a:latin typeface="微软雅黑"/>
                <a:ea typeface="微软雅黑"/>
              </a:rPr>
              <a:t>· 确认与致谢（人际信任）→ 无签样单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1" i="0">
                <a:solidFill>
                  <a:srgbClr val="3A5A66"/>
                </a:solidFill>
                <a:latin typeface="微软雅黑"/>
                <a:ea typeface="微软雅黑"/>
              </a:rPr>
              <a:t>——正是 22 项交接数据包要补的每一格。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846320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4846320"/>
            <a:ext cx="10783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E331F"/>
                </a:solidFill>
                <a:latin typeface="微软雅黑"/>
                <a:ea typeface="微软雅黑"/>
              </a:rPr>
              <a:t>讲法：</a:t>
            </a:r>
            <a:r>
              <a:rPr sz="1150" b="0" i="0">
                <a:solidFill>
                  <a:srgbClr val="21282E"/>
                </a:solidFill>
                <a:latin typeface="微软雅黑"/>
                <a:ea typeface="微软雅黑"/>
              </a:rPr>
              <a:t>一个研究生能靠人际与经验打通的路径，说明接口存在、但零留痕——规模化后就是纠纷与重复试错。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623560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5623560"/>
            <a:ext cx="10783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1282E"/>
                </a:solidFill>
                <a:latin typeface="微软雅黑"/>
                <a:ea typeface="微软雅黑"/>
              </a:rPr>
              <a:t>同一界面上的企业侧：</a:t>
            </a:r>
            <a:r>
              <a:rPr sz="1050" b="0" i="0">
                <a:solidFill>
                  <a:srgbClr val="545E66"/>
                </a:solidFill>
                <a:latin typeface="微软雅黑"/>
                <a:ea typeface="微软雅黑"/>
              </a:rPr>
              <a:t>东鹏产品经理＝“试制打样、确认颜色与工艺”的岗位接口人；康立泰设计经理＝“工艺适配＋打样调色＋量产迭代”全链条。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5432A"/>
                </a:solidFill>
                <a:latin typeface="微软雅黑"/>
                <a:ea typeface="微软雅黑"/>
              </a:rPr>
              <a:t>06 · 对接案例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1282E"/>
                </a:solidFill>
                <a:latin typeface="微软雅黑"/>
                <a:ea typeface="微软雅黑"/>
              </a:rPr>
              <a:t>AI 正在进入设计端（2026 新动向）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5855" cy="9525"/>
          </a:xfrm>
          <a:prstGeom prst="rect">
            <a:avLst/>
          </a:prstGeom>
          <a:solidFill>
            <a:srgbClr val="E7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949B"/>
                </a:solidFill>
                <a:latin typeface="微软雅黑"/>
                <a:ea typeface="微软雅黑"/>
              </a:rPr>
              <a:t>来源：[S1] 潮州日报 2026-10-08；[S21] 酷家乐官网；[S22]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C949B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52144"/>
            <a:ext cx="5477256" cy="1554480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52144"/>
            <a:ext cx="5477256" cy="1554480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280160"/>
            <a:ext cx="41148" cy="1298448"/>
          </a:xfrm>
          <a:prstGeom prst="rect">
            <a:avLst/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298448"/>
            <a:ext cx="5029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1282E"/>
                </a:solidFill>
                <a:latin typeface="微软雅黑"/>
                <a:ea typeface="微软雅黑"/>
              </a:rPr>
              <a:t>韩山师范学院 × 雅居陶瓷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45E66"/>
                </a:solidFill>
                <a:latin typeface="微软雅黑"/>
                <a:ea typeface="微软雅黑"/>
              </a:rPr>
              <a:t>共建实践教学基地，探索 AI 创意生成、纹样智能定制——产学研把 AI 设计引进产区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152144"/>
            <a:ext cx="5477256" cy="1554480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08776" y="1152144"/>
            <a:ext cx="5477256" cy="1554480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216" y="1280160"/>
            <a:ext cx="41148" cy="1298448"/>
          </a:xfrm>
          <a:prstGeom prst="rect">
            <a:avLst/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298448"/>
            <a:ext cx="5029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1282E"/>
                </a:solidFill>
                <a:latin typeface="微软雅黑"/>
                <a:ea typeface="微软雅黑"/>
              </a:rPr>
              <a:t>非遗元素的 AI 重组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45E66"/>
                </a:solidFill>
                <a:latin typeface="微软雅黑"/>
                <a:ea typeface="微软雅黑"/>
              </a:rPr>
              <a:t>潮州行业共性应用：AI 辅助设计已用于通花瓷、潮彩非遗元素重组生成方案；蒙娜丽莎智能仿版 7 天→5 分钟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834640"/>
            <a:ext cx="5477256" cy="1554480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酷家乐-瓷砖贴图模型库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2980944"/>
            <a:ext cx="2103120" cy="1314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2376" y="2962656"/>
            <a:ext cx="278892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1282E"/>
                </a:solidFill>
                <a:latin typeface="微软雅黑"/>
                <a:ea typeface="微软雅黑"/>
              </a:rPr>
              <a:t>酷家乐（消费设计端）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45E66"/>
                </a:solidFill>
                <a:latin typeface="微软雅黑"/>
                <a:ea typeface="微软雅黑"/>
              </a:rPr>
              <a:t>6500 万+ 注册用户、4 万+ 合作企业；瓷砖贴图模型库＝瓷砖数字资产在消费端的最大分发载体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2834640"/>
            <a:ext cx="5477256" cy="1554480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08776" y="2834640"/>
            <a:ext cx="5477256" cy="1554480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0216" y="2962656"/>
            <a:ext cx="41148" cy="1298448"/>
          </a:xfrm>
          <a:prstGeom prst="rect">
            <a:avLst/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2980944"/>
            <a:ext cx="5029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1282E"/>
                </a:solidFill>
                <a:latin typeface="微软雅黑"/>
                <a:ea typeface="微软雅黑"/>
              </a:rPr>
              <a:t>机器人喷釉 / AGV / AI 视觉质检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45E66"/>
                </a:solidFill>
                <a:latin typeface="微软雅黑"/>
                <a:ea typeface="微软雅黑"/>
              </a:rPr>
              <a:t>潮州行业共性：AI 从质检向设计端渗透（樱井/恒洁潮州/皓明/安彼 AI 配方优化、智能窑炉控制）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617720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4617720"/>
            <a:ext cx="10783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E331F"/>
                </a:solidFill>
                <a:latin typeface="微软雅黑"/>
                <a:ea typeface="微软雅黑"/>
              </a:rPr>
              <a:t>讲法：</a:t>
            </a:r>
            <a:r>
              <a:rPr sz="1150" b="0" i="0">
                <a:solidFill>
                  <a:srgbClr val="21282E"/>
                </a:solidFill>
                <a:latin typeface="微软雅黑"/>
                <a:ea typeface="微软雅黑"/>
              </a:rPr>
              <a:t>AI 让“生成”变便宜；但适用条件、来源与权利不被管理的话，生成得越多、资产越乱——标准的机会窗口就在这一两年。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5432A"/>
                </a:solidFill>
                <a:latin typeface="微软雅黑"/>
                <a:ea typeface="微软雅黑"/>
              </a:rPr>
              <a:t>06 · 对接案例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1282E"/>
                </a:solidFill>
                <a:latin typeface="微软雅黑"/>
                <a:ea typeface="微软雅黑"/>
              </a:rPr>
              <a:t>IP 与文创：资产化的另一条腿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5855" cy="9525"/>
          </a:xfrm>
          <a:prstGeom prst="rect">
            <a:avLst/>
          </a:prstGeom>
          <a:solidFill>
            <a:srgbClr val="E7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949B"/>
                </a:solidFill>
                <a:latin typeface="微软雅黑"/>
                <a:ea typeface="微软雅黑"/>
              </a:rPr>
              <a:t>来源：[S16][S17][S18][S19][S20] 花城+/佛山+/国家版权局/潮州日报/中国网；[S22]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C949B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52144"/>
            <a:ext cx="5477256" cy="1517904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280160"/>
            <a:ext cx="41148" cy="1261872"/>
          </a:xfrm>
          <a:prstGeom prst="rect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61872"/>
            <a:ext cx="5029200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1282E"/>
                </a:solidFill>
                <a:latin typeface="微软雅黑"/>
                <a:ea typeface="微软雅黑"/>
              </a:rPr>
              <a:t>“石湾公仔”创新合作对接会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45E66"/>
                </a:solidFill>
                <a:latin typeface="微软雅黑"/>
                <a:ea typeface="微软雅黑"/>
              </a:rPr>
              <a:t>2025 中国陶瓷创意周（2025-12-05 佛山，主题含 IP＋科技）：汇集 IP 版权方 × 陶艺大师 × 渠道商，推动从“匠心单品”到“市场爆品”——传统陶塑 IP 的商业化对接机制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1152144"/>
            <a:ext cx="5477256" cy="1517904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0216" y="1280160"/>
            <a:ext cx="41148" cy="1261872"/>
          </a:xfrm>
          <a:prstGeom prst="rect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1261872"/>
            <a:ext cx="5029200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1282E"/>
                </a:solidFill>
                <a:latin typeface="微软雅黑"/>
                <a:ea typeface="微软雅黑"/>
              </a:rPr>
              <a:t>跨域纹样再设计（原创 IP 馆）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45E66"/>
                </a:solidFill>
                <a:latin typeface="微软雅黑"/>
                <a:ea typeface="微软雅黑"/>
              </a:rPr>
              <a:t>国家版权局报道：香云纱纹理化身瓷砖花纹、国画与陶瓷融合、陶艺家魏华从石湾瓦脊公仔取型——纹样跨域成交的真实样本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98064"/>
            <a:ext cx="5477256" cy="1517904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926080"/>
            <a:ext cx="41148" cy="1261872"/>
          </a:xfrm>
          <a:prstGeom prst="rect">
            <a:avLst/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907792"/>
            <a:ext cx="5029200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1282E"/>
                </a:solidFill>
                <a:latin typeface="微软雅黑"/>
                <a:ea typeface="微软雅黑"/>
              </a:rPr>
              <a:t>石湾公仔数字化路径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45E66"/>
                </a:solidFill>
                <a:latin typeface="微软雅黑"/>
                <a:ea typeface="微软雅黑"/>
              </a:rPr>
              <a:t>学界建议 3D 建模、虚拟展示打破地域与生产瓶颈；潮玩化（造型简化＋场景适配）讨论中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2798064"/>
            <a:ext cx="5477256" cy="1517904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0216" y="2926080"/>
            <a:ext cx="41148" cy="1261872"/>
          </a:xfrm>
          <a:prstGeom prst="rect">
            <a:avLst/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3096" y="2907792"/>
            <a:ext cx="5029200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1282E"/>
                </a:solidFill>
                <a:latin typeface="微软雅黑"/>
                <a:ea typeface="微软雅黑"/>
              </a:rPr>
              <a:t>赛事通道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45E66"/>
                </a:solidFill>
                <a:latin typeface="微软雅黑"/>
                <a:ea typeface="微软雅黑"/>
              </a:rPr>
              <a:t>2025 潮州陶瓷灯饰创新设计大赛（金 2/银 8/铜 30/优 35）；第十七届省陶瓷艺术创作设计创新大赛 345 件精品展（2025-01 潮州）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480560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480560"/>
            <a:ext cx="10783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E331F"/>
                </a:solidFill>
                <a:latin typeface="微软雅黑"/>
                <a:ea typeface="微软雅黑"/>
              </a:rPr>
              <a:t>为什么重要：</a:t>
            </a:r>
            <a:r>
              <a:rPr sz="1150" b="0" i="0">
                <a:solidFill>
                  <a:srgbClr val="21282E"/>
                </a:solidFill>
                <a:latin typeface="微软雅黑"/>
                <a:ea typeface="微软雅黑"/>
              </a:rPr>
              <a:t>IP/纹样是设计资产里最像“资产”的部分（可授权、可交易、可登记）；佛山 2024 著作权登记 24338 件全省第一——确权习惯已在，缺的是把“登记”延伸到“设计—制造交接”的留证。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5432A"/>
                </a:solidFill>
                <a:latin typeface="微软雅黑"/>
                <a:ea typeface="微软雅黑"/>
              </a:rPr>
              <a:t>07 · 国内外对标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1282E"/>
                </a:solidFill>
                <a:latin typeface="微软雅黑"/>
                <a:ea typeface="微软雅黑"/>
              </a:rPr>
              <a:t>四案对标：都能证明一半，没人做成整体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5855" cy="9525"/>
          </a:xfrm>
          <a:prstGeom prst="rect">
            <a:avLst/>
          </a:prstGeom>
          <a:solidFill>
            <a:srgbClr val="E7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949B"/>
                </a:solidFill>
                <a:latin typeface="微软雅黑"/>
                <a:ea typeface="微软雅黑"/>
              </a:rPr>
              <a:t>来源：[S23] 组内《现有案例整理》(2026-10)；配图：景德镇官方 8+X 图 / 濑户试验场 2020 研究介绍页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C949B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52144"/>
            <a:ext cx="5477256" cy="2139696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280160"/>
            <a:ext cx="2670048" cy="1901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1282E"/>
                </a:solidFill>
                <a:latin typeface="微软雅黑"/>
                <a:ea typeface="微软雅黑"/>
              </a:rPr>
              <a:t>景德镇 · 古陶瓷基因库（御窑）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3A5A66"/>
                </a:solidFill>
                <a:latin typeface="微软雅黑"/>
                <a:ea typeface="微软雅黑"/>
              </a:rPr>
              <a:t>它证明了：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45E66"/>
                </a:solidFill>
                <a:latin typeface="微软雅黑"/>
                <a:ea typeface="微软雅黑"/>
              </a:rPr>
              <a:t>8+X 特征组织＋统一元数据；基因库/瓷器库/申遗库三子集；工艺与文创转化有项目方报告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A97714"/>
                </a:solidFill>
                <a:latin typeface="微软雅黑"/>
                <a:ea typeface="微软雅黑"/>
              </a:rPr>
              <a:t>证据边界：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45E66"/>
                </a:solidFill>
                <a:latin typeface="微软雅黑"/>
                <a:ea typeface="微软雅黑"/>
              </a:rPr>
              <a:t>字段表、许可细则、单项设计记录未查得公开披露</a:t>
            </a:r>
          </a:p>
        </p:txBody>
      </p:sp>
      <p:pic>
        <p:nvPicPr>
          <p:cNvPr id="10" name="Picture 9" descr="景德镇-8X特征组织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6" y="1591056"/>
            <a:ext cx="2212848" cy="124647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08776" y="1152144"/>
            <a:ext cx="5477256" cy="2139696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80160"/>
            <a:ext cx="2670048" cy="1901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1282E"/>
                </a:solidFill>
                <a:latin typeface="微软雅黑"/>
                <a:ea typeface="微软雅黑"/>
              </a:rPr>
              <a:t>日本 · 濑户窑业试验场 釉药数据库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3A5A66"/>
                </a:solidFill>
                <a:latin typeface="微软雅黑"/>
                <a:ea typeface="微软雅黑"/>
              </a:rPr>
              <a:t>它证明了：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45E66"/>
                </a:solidFill>
                <a:latin typeface="微软雅黑"/>
                <a:ea typeface="微软雅黑"/>
              </a:rPr>
              <a:t>约 2 万条试片＋6000 条台纸数据；“选用→适配→评价”全链路（为骨质瓷调整原料/釉层/烧成条件再试制）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A97714"/>
                </a:solidFill>
                <a:latin typeface="微软雅黑"/>
                <a:ea typeface="微软雅黑"/>
              </a:rPr>
              <a:t>证据边界：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45E66"/>
                </a:solidFill>
                <a:latin typeface="微软雅黑"/>
                <a:ea typeface="微软雅黑"/>
              </a:rPr>
              <a:t>须来所使用；约 15 万点为实物试片≠数字记录</a:t>
            </a:r>
          </a:p>
        </p:txBody>
      </p:sp>
      <p:pic>
        <p:nvPicPr>
          <p:cNvPr id="13" name="Picture 12" descr="p7-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2872" y="1719072"/>
            <a:ext cx="2212848" cy="97886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2920" y="3474720"/>
            <a:ext cx="5477256" cy="2139696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3602736"/>
            <a:ext cx="5029200" cy="1901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1282E"/>
                </a:solidFill>
                <a:latin typeface="微软雅黑"/>
                <a:ea typeface="微软雅黑"/>
              </a:rPr>
              <a:t>韩国 · 文化门户纹样服务 ＋ AI Hub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3A5A66"/>
                </a:solidFill>
                <a:latin typeface="微软雅黑"/>
                <a:ea typeface="微软雅黑"/>
              </a:rPr>
              <a:t>它证明了：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45E66"/>
                </a:solidFill>
                <a:latin typeface="微软雅黑"/>
                <a:ea typeface="微软雅黑"/>
              </a:rPr>
              <a:t>九类形态分类；AI/PSD/STL 源文件申请制＋公开 API；AI Hub 八类代码＋JSON 字段面向 AI 训练——格式与授权范例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A97714"/>
                </a:solidFill>
                <a:latin typeface="微软雅黑"/>
                <a:ea typeface="微软雅黑"/>
              </a:rPr>
              <a:t>证据边界：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45E66"/>
                </a:solidFill>
                <a:latin typeface="微软雅黑"/>
                <a:ea typeface="微软雅黑"/>
              </a:rPr>
              <a:t>高质量文件须登录申请；AI Hub 限韩国本国申请者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3474720"/>
            <a:ext cx="5477256" cy="2139696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602736"/>
            <a:ext cx="5029200" cy="1901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1282E"/>
                </a:solidFill>
                <a:latin typeface="微软雅黑"/>
                <a:ea typeface="微软雅黑"/>
              </a:rPr>
              <a:t>欧盟 · CRAEFT 研究项目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3A5A66"/>
                </a:solidFill>
                <a:latin typeface="微软雅黑"/>
                <a:ea typeface="微软雅黑"/>
              </a:rPr>
              <a:t>它证明了：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45E66"/>
                </a:solidFill>
                <a:latin typeface="微软雅黑"/>
                <a:ea typeface="微软雅黑"/>
              </a:rPr>
              <a:t>D8.5 数据管理计划（媒体-技艺对象关联、质量检查项、版本稳定）＋D6.2 设计试点（利摩日：模拟器×石膏车削×陶瓷 3D 打印）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A97714"/>
                </a:solidFill>
                <a:latin typeface="微软雅黑"/>
                <a:ea typeface="微软雅黑"/>
              </a:rPr>
              <a:t>证据边界：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45E66"/>
                </a:solidFill>
                <a:latin typeface="微软雅黑"/>
                <a:ea typeface="微软雅黑"/>
              </a:rPr>
              <a:t>证据到设计实验与试制探索，不足以推断批量生产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797296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5797296"/>
            <a:ext cx="10783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E331F"/>
                </a:solidFill>
                <a:latin typeface="微软雅黑"/>
                <a:ea typeface="微软雅黑"/>
              </a:rPr>
              <a:t>共同问题：</a:t>
            </a:r>
            <a:r>
              <a:rPr sz="1150" b="0" i="0">
                <a:solidFill>
                  <a:srgbClr val="21282E"/>
                </a:solidFill>
                <a:latin typeface="微软雅黑"/>
                <a:ea typeface="微软雅黑"/>
              </a:rPr>
              <a:t>集中在“设计使用条件与记录”——没有一家把工艺参数＋权利＋留证做成一套可交接的东西。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5432A"/>
                </a:solidFill>
                <a:latin typeface="微软雅黑"/>
                <a:ea typeface="微软雅黑"/>
              </a:rPr>
              <a:t>07 · 国内外对标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1282E"/>
                </a:solidFill>
                <a:latin typeface="微软雅黑"/>
                <a:ea typeface="微软雅黑"/>
              </a:rPr>
              <a:t>比较矩阵：广东的两处空白正是标准增量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5855" cy="9525"/>
          </a:xfrm>
          <a:prstGeom prst="rect">
            <a:avLst/>
          </a:prstGeom>
          <a:solidFill>
            <a:srgbClr val="E7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949B"/>
                </a:solidFill>
                <a:latin typeface="微软雅黑"/>
                <a:ea typeface="微软雅黑"/>
              </a:rPr>
              <a:t>来源：[S22][S23] 综合项目底稿与组内案例整理；●=有 ◐=部分 ○=无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C949B"/>
                </a:solidFill>
                <a:latin typeface="微软雅黑"/>
                <a:ea typeface="微软雅黑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85852" cy="37307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1919"/>
                <a:gridCol w="1415931"/>
                <a:gridCol w="1793512"/>
                <a:gridCol w="1510326"/>
                <a:gridCol w="1510326"/>
                <a:gridCol w="1510326"/>
                <a:gridCol w="1793512"/>
              </a:tblGrid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案例</a:t>
                      </a:r>
                    </a:p>
                  </a:txBody>
                  <a:tcPr anchor="ctr" marL="73152" marR="73152" marT="18288" marB="18288">
                    <a:solidFill>
                      <a:srgbClr val="2128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内容类型</a:t>
                      </a:r>
                    </a:p>
                  </a:txBody>
                  <a:tcPr anchor="ctr" marL="73152" marR="73152" marT="18288" marB="18288">
                    <a:solidFill>
                      <a:srgbClr val="2128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工艺参数</a:t>
                      </a:r>
                    </a:p>
                  </a:txBody>
                  <a:tcPr anchor="ctr" marL="73152" marR="73152" marT="18288" marB="18288">
                    <a:solidFill>
                      <a:srgbClr val="2128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权利/许可</a:t>
                      </a:r>
                    </a:p>
                  </a:txBody>
                  <a:tcPr anchor="ctr" marL="73152" marR="73152" marT="18288" marB="18288">
                    <a:solidFill>
                      <a:srgbClr val="2128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质量可审计</a:t>
                      </a:r>
                    </a:p>
                  </a:txBody>
                  <a:tcPr anchor="ctr" marL="73152" marR="73152" marT="18288" marB="18288">
                    <a:solidFill>
                      <a:srgbClr val="2128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设计端撮合</a:t>
                      </a:r>
                    </a:p>
                  </a:txBody>
                  <a:tcPr anchor="ctr" marL="73152" marR="73152" marT="18288" marB="18288">
                    <a:solidFill>
                      <a:srgbClr val="2128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与本标准关系</a:t>
                      </a:r>
                    </a:p>
                  </a:txBody>
                  <a:tcPr anchor="ctr" marL="73152" marR="73152" marT="18288" marB="18288">
                    <a:solidFill>
                      <a:srgbClr val="21282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21282E"/>
                          </a:solidFill>
                          <a:latin typeface="微软雅黑"/>
                          <a:ea typeface="微软雅黑"/>
                        </a:rPr>
                        <a:t>景德镇基因库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标本/图像/3D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◐ 参数在特征框架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◐ 未披露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◐ 指定等级体系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○ 文创转化为主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对象轴＋元数据组织可引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21282E"/>
                          </a:solidFill>
                          <a:latin typeface="微软雅黑"/>
                          <a:ea typeface="微软雅黑"/>
                        </a:rPr>
                        <a:t>濑户釉药 DB</a:t>
                      </a:r>
                    </a:p>
                  </a:txBody>
                  <a:tcPr anchor="ctr" marL="73152" marR="73152" marT="18288" marB="18288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配方/试片/效果</a:t>
                      </a:r>
                    </a:p>
                  </a:txBody>
                  <a:tcPr anchor="ctr" marL="73152" marR="73152" marT="18288" marB="18288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● 釉式·温度·外观</a:t>
                      </a:r>
                    </a:p>
                  </a:txBody>
                  <a:tcPr anchor="ctr" marL="73152" marR="73152" marT="18288" marB="18288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◐ 来所使用</a:t>
                      </a:r>
                    </a:p>
                  </a:txBody>
                  <a:tcPr anchor="ctr" marL="73152" marR="73152" marT="18288" marB="18288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● 试片实测</a:t>
                      </a:r>
                    </a:p>
                  </a:txBody>
                  <a:tcPr anchor="ctr" marL="73152" marR="73152" marT="18288" marB="18288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◐ 帮企业选釉</a:t>
                      </a:r>
                    </a:p>
                  </a:txBody>
                  <a:tcPr anchor="ctr" marL="73152" marR="73152" marT="18288" marB="18288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“条件＋适配过程”范本</a:t>
                      </a:r>
                    </a:p>
                  </a:txBody>
                  <a:tcPr anchor="ctr" marL="73152" marR="73152" marT="18288" marB="18288">
                    <a:solidFill>
                      <a:srgbClr val="F3F4F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21282E"/>
                          </a:solidFill>
                          <a:latin typeface="微软雅黑"/>
                          <a:ea typeface="微软雅黑"/>
                        </a:rPr>
                        <a:t>韩国门户＋AI Hub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纹样源文件/JSON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○ 纹样不含工艺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● 申请制＋许可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◐ 字段规范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◐ 检索API非撮合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格式与授权条款范本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21282E"/>
                          </a:solidFill>
                          <a:latin typeface="微软雅黑"/>
                          <a:ea typeface="微软雅黑"/>
                        </a:rPr>
                        <a:t>CRAEFT（欧盟）</a:t>
                      </a:r>
                    </a:p>
                  </a:txBody>
                  <a:tcPr anchor="ctr" marL="73152" marR="73152" marT="18288" marB="18288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3D/影像/过程模型</a:t>
                      </a:r>
                    </a:p>
                  </a:txBody>
                  <a:tcPr anchor="ctr" marL="73152" marR="73152" marT="18288" marB="18288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◐ 记录动作与分支</a:t>
                      </a:r>
                    </a:p>
                  </a:txBody>
                  <a:tcPr anchor="ctr" marL="73152" marR="73152" marT="18288" marB="18288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◐ 平台内分级</a:t>
                      </a:r>
                    </a:p>
                  </a:txBody>
                  <a:tcPr anchor="ctr" marL="73152" marR="73152" marT="18288" marB="18288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● 检查清单</a:t>
                      </a:r>
                    </a:p>
                  </a:txBody>
                  <a:tcPr anchor="ctr" marL="73152" marR="73152" marT="18288" marB="18288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◐ 设计试点验证</a:t>
                      </a:r>
                    </a:p>
                  </a:txBody>
                  <a:tcPr anchor="ctr" marL="73152" marR="73152" marT="18288" marB="18288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检查项与关联关系范本</a:t>
                      </a:r>
                    </a:p>
                  </a:txBody>
                  <a:tcPr anchor="ctr" marL="73152" marR="73152" marT="18288" marB="18288">
                    <a:solidFill>
                      <a:srgbClr val="F3F4F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21282E"/>
                          </a:solidFill>
                          <a:latin typeface="微软雅黑"/>
                          <a:ea typeface="微软雅黑"/>
                        </a:rPr>
                        <a:t>广东（制造侧系统）</a:t>
                      </a:r>
                    </a:p>
                  </a:txBody>
                  <a:tcPr anchor="ctr" marL="73152" marR="73152" marT="18288" marB="18288">
                    <a:solidFill>
                      <a:srgbClr val="F8EB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MES/质检/溯源</a:t>
                      </a:r>
                    </a:p>
                  </a:txBody>
                  <a:tcPr anchor="ctr" marL="73152" marR="73152" marT="18288" marB="18288">
                    <a:solidFill>
                      <a:srgbClr val="F8EB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● 烧成曲线·批次</a:t>
                      </a:r>
                    </a:p>
                  </a:txBody>
                  <a:tcPr anchor="ctr" marL="73152" marR="73152" marT="18288" marB="18288">
                    <a:solidFill>
                      <a:srgbClr val="F8EB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◐ 登记强·交接弱</a:t>
                      </a:r>
                    </a:p>
                  </a:txBody>
                  <a:tcPr anchor="ctr" marL="73152" marR="73152" marT="18288" marB="18288">
                    <a:solidFill>
                      <a:srgbClr val="F8EB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● 分级国标落地</a:t>
                      </a:r>
                    </a:p>
                  </a:txBody>
                  <a:tcPr anchor="ctr" marL="73152" marR="73152" marT="18288" marB="18288">
                    <a:solidFill>
                      <a:srgbClr val="F8EB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○ 全线下撮合</a:t>
                      </a:r>
                    </a:p>
                  </a:txBody>
                  <a:tcPr anchor="ctr" marL="73152" marR="73152" marT="18288" marB="18288">
                    <a:solidFill>
                      <a:srgbClr val="F8EB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45E66"/>
                          </a:solidFill>
                          <a:latin typeface="微软雅黑"/>
                          <a:ea typeface="微软雅黑"/>
                        </a:rPr>
                        <a:t>交接数据包的实证场域</a:t>
                      </a:r>
                    </a:p>
                  </a:txBody>
                  <a:tcPr anchor="ctr" marL="73152" marR="73152" marT="18288" marB="18288">
                    <a:solidFill>
                      <a:srgbClr val="F8EBE7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074920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5074920"/>
            <a:ext cx="10783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E331F"/>
                </a:solidFill>
                <a:latin typeface="微软雅黑"/>
                <a:ea typeface="微软雅黑"/>
              </a:rPr>
              <a:t>读法：</a:t>
            </a:r>
            <a:r>
              <a:rPr sz="1150" b="0" i="0">
                <a:solidFill>
                  <a:srgbClr val="21282E"/>
                </a:solidFill>
                <a:latin typeface="微软雅黑"/>
                <a:ea typeface="微软雅黑"/>
              </a:rPr>
              <a:t>广东行的两处空白（权利交接、设计端撮合）＋国际行的共性缺口（工艺参数×权利×留证未成体系）＝本标准「设计—制造交接数据包」的位置。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806440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5806440"/>
            <a:ext cx="10783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1282E"/>
                </a:solidFill>
                <a:latin typeface="微软雅黑"/>
                <a:ea typeface="微软雅黑"/>
              </a:rPr>
              <a:t>另一面：</a:t>
            </a:r>
            <a:r>
              <a:rPr sz="1050" b="0" i="0">
                <a:solidFill>
                  <a:srgbClr val="545E66"/>
                </a:solidFill>
                <a:latin typeface="微软雅黑"/>
                <a:ea typeface="微软雅黑"/>
              </a:rPr>
              <a:t>比日韩库多的——工艺条件与可审计质量；比日韩库少的——权威指定体系与藏品级来源链（不追赶，引用即可）。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5432A"/>
                </a:solidFill>
                <a:latin typeface="微软雅黑"/>
                <a:ea typeface="微软雅黑"/>
              </a:rPr>
              <a:t>08 · 对标准的意义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1282E"/>
                </a:solidFill>
                <a:latin typeface="微软雅黑"/>
                <a:ea typeface="微软雅黑"/>
              </a:rPr>
              <a:t>建议单列：设计—制造交接数据包（6 组 22 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5855" cy="9525"/>
          </a:xfrm>
          <a:prstGeom prst="rect">
            <a:avLst/>
          </a:prstGeom>
          <a:solidFill>
            <a:srgbClr val="E7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949B"/>
                </a:solidFill>
                <a:latin typeface="微软雅黑"/>
                <a:ea typeface="微软雅黑"/>
              </a:rPr>
              <a:t>来源：[S22] 报告 v0.2 §8.1；每项要求「版本＋责任人＋判定结果」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C949B"/>
                </a:solidFill>
                <a:latin typeface="微软雅黑"/>
                <a:ea typeface="微软雅黑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52144"/>
            <a:ext cx="3602736" cy="950976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34440"/>
            <a:ext cx="31455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1282E"/>
                </a:solidFill>
                <a:latin typeface="微软雅黑"/>
                <a:ea typeface="微软雅黑"/>
              </a:rPr>
              <a:t>A 设计与权利  </a:t>
            </a:r>
            <a:r>
              <a:rPr sz="950" b="1" i="0">
                <a:solidFill>
                  <a:srgbClr val="8C949B"/>
                </a:solidFill>
                <a:latin typeface="微软雅黑"/>
                <a:ea typeface="微软雅黑"/>
              </a:rPr>
              <a:t>5 项</a:t>
            </a:r>
            <a:r>
              <a:rPr sz="850" b="1" i="0">
                <a:solidFill>
                  <a:srgbClr val="8E331F"/>
                </a:solidFill>
                <a:latin typeface="微软雅黑"/>
                <a:ea typeface="微软雅黑"/>
              </a:rPr>
              <a:t>　2 项空白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45E66"/>
                </a:solidFill>
                <a:latin typeface="微软雅黑"/>
                <a:ea typeface="微软雅黑"/>
              </a:rPr>
              <a:t>设计编号/版本 · 设计类型 · 花型源文件 · 权利状态 · 保密等级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3107" y="1152144"/>
            <a:ext cx="3602736" cy="950976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4275" y="1234440"/>
            <a:ext cx="31455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1282E"/>
                </a:solidFill>
                <a:latin typeface="微软雅黑"/>
                <a:ea typeface="微软雅黑"/>
              </a:rPr>
              <a:t>B 色彩与印花  </a:t>
            </a:r>
            <a:r>
              <a:rPr sz="950" b="1" i="0">
                <a:solidFill>
                  <a:srgbClr val="8C949B"/>
                </a:solidFill>
                <a:latin typeface="微软雅黑"/>
                <a:ea typeface="微软雅黑"/>
              </a:rPr>
              <a:t>5 项</a:t>
            </a:r>
            <a:r>
              <a:rPr sz="850" b="1" i="0">
                <a:solidFill>
                  <a:srgbClr val="8E331F"/>
                </a:solidFill>
                <a:latin typeface="微软雅黑"/>
                <a:ea typeface="微软雅黑"/>
              </a:rPr>
              <a:t>　2 项空白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45E66"/>
                </a:solidFill>
                <a:latin typeface="微软雅黑"/>
                <a:ea typeface="微软雅黑"/>
              </a:rPr>
              <a:t>目标色与ΔE容限 · 分色方案 · 喷墨文件 · 网版/版辊参数 · 色卡与留样清单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4" y="1152144"/>
            <a:ext cx="3602736" cy="950976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2" y="1234440"/>
            <a:ext cx="31455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1282E"/>
                </a:solidFill>
                <a:latin typeface="微软雅黑"/>
                <a:ea typeface="微软雅黑"/>
              </a:rPr>
              <a:t>C 造型与模具  </a:t>
            </a:r>
            <a:r>
              <a:rPr sz="950" b="1" i="0">
                <a:solidFill>
                  <a:srgbClr val="8C949B"/>
                </a:solidFill>
                <a:latin typeface="微软雅黑"/>
                <a:ea typeface="微软雅黑"/>
              </a:rPr>
              <a:t>4 项</a:t>
            </a:r>
            <a:r>
              <a:rPr sz="850" b="1" i="0">
                <a:solidFill>
                  <a:srgbClr val="8E331F"/>
                </a:solidFill>
                <a:latin typeface="微软雅黑"/>
                <a:ea typeface="微软雅黑"/>
              </a:rPr>
              <a:t>　1 项空白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45E66"/>
                </a:solidFill>
                <a:latin typeface="微软雅黑"/>
                <a:ea typeface="微软雅黑"/>
              </a:rPr>
              <a:t>3D 模型 · 收缩放尺系数 · 模具编号与工序链 · 修改记录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212848"/>
            <a:ext cx="3602736" cy="950976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295144"/>
            <a:ext cx="31455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1282E"/>
                </a:solidFill>
                <a:latin typeface="微软雅黑"/>
                <a:ea typeface="微软雅黑"/>
              </a:rPr>
              <a:t>D 工艺与 BOM  </a:t>
            </a:r>
            <a:r>
              <a:rPr sz="950" b="1" i="0">
                <a:solidFill>
                  <a:srgbClr val="8C949B"/>
                </a:solidFill>
                <a:latin typeface="微软雅黑"/>
                <a:ea typeface="微软雅黑"/>
              </a:rPr>
              <a:t>3 项</a:t>
            </a:r>
            <a:r>
              <a:rPr sz="850" b="1" i="0">
                <a:solidFill>
                  <a:srgbClr val="8E331F"/>
                </a:solidFill>
                <a:latin typeface="微软雅黑"/>
                <a:ea typeface="微软雅黑"/>
              </a:rPr>
              <a:t>　1 项空白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45E66"/>
                </a:solidFill>
                <a:latin typeface="微软雅黑"/>
                <a:ea typeface="微软雅黑"/>
              </a:rPr>
              <a:t>工艺卡（配方代号/烧成曲线）· BOM 含替代料 · 工艺适配说明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3107" y="2212848"/>
            <a:ext cx="3602736" cy="950976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4275" y="2295144"/>
            <a:ext cx="31455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1282E"/>
                </a:solidFill>
                <a:latin typeface="微软雅黑"/>
                <a:ea typeface="微软雅黑"/>
              </a:rPr>
              <a:t>E 打样与验证  </a:t>
            </a:r>
            <a:r>
              <a:rPr sz="950" b="1" i="0">
                <a:solidFill>
                  <a:srgbClr val="8C949B"/>
                </a:solidFill>
                <a:latin typeface="微软雅黑"/>
                <a:ea typeface="微软雅黑"/>
              </a:rPr>
              <a:t>3 项</a:t>
            </a:r>
            <a:r>
              <a:rPr sz="850" b="1" i="0">
                <a:solidFill>
                  <a:srgbClr val="8E331F"/>
                </a:solidFill>
                <a:latin typeface="微软雅黑"/>
                <a:ea typeface="微软雅黑"/>
              </a:rPr>
              <a:t>　1 项空白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45E66"/>
                </a:solidFill>
                <a:latin typeface="微软雅黑"/>
                <a:ea typeface="微软雅黑"/>
              </a:rPr>
              <a:t>打样轮次记录 · 首件确认/签样 · 判定结论（合格/让步/返工/放弃）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4" y="2212848"/>
            <a:ext cx="3602736" cy="950976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2" y="2295144"/>
            <a:ext cx="31455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1282E"/>
                </a:solidFill>
                <a:latin typeface="微软雅黑"/>
                <a:ea typeface="微软雅黑"/>
              </a:rPr>
              <a:t>F 变更与追溯  </a:t>
            </a:r>
            <a:r>
              <a:rPr sz="950" b="1" i="0">
                <a:solidFill>
                  <a:srgbClr val="8C949B"/>
                </a:solidFill>
                <a:latin typeface="微软雅黑"/>
                <a:ea typeface="微软雅黑"/>
              </a:rPr>
              <a:t>2 项</a:t>
            </a:r>
            <a:r>
              <a:rPr sz="850" b="1" i="0">
                <a:solidFill>
                  <a:srgbClr val="8E331F"/>
                </a:solidFill>
                <a:latin typeface="微软雅黑"/>
                <a:ea typeface="微软雅黑"/>
              </a:rPr>
              <a:t>　1 项空白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45E66"/>
                </a:solidFill>
                <a:latin typeface="微软雅黑"/>
                <a:ea typeface="微软雅黑"/>
              </a:rPr>
              <a:t>ECN 设计变更单 · 批次关联（设计版本↔工艺↔批次↔检选）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346704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1282E"/>
                </a:solidFill>
                <a:latin typeface="微软雅黑"/>
                <a:ea typeface="微软雅黑"/>
              </a:rPr>
              <a:t>三条优先条款（按“成本最低、争议最大”排序）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694176"/>
            <a:ext cx="11185855" cy="749808"/>
          </a:xfrm>
          <a:prstGeom prst="roundRect">
            <a:avLst>
              <a:gd name="adj" fmla="val 6000"/>
            </a:avLst>
          </a:prstGeom>
          <a:solidFill>
            <a:srgbClr val="F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822192"/>
            <a:ext cx="41148" cy="493776"/>
          </a:xfrm>
          <a:prstGeom prst="rect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3776472"/>
            <a:ext cx="106006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E331F"/>
                </a:solidFill>
                <a:latin typeface="微软雅黑"/>
                <a:ea typeface="微软雅黑"/>
              </a:rPr>
              <a:t>① 分道留样写进标准：</a:t>
            </a:r>
            <a:r>
              <a:rPr sz="1050" b="0" i="0">
                <a:solidFill>
                  <a:srgbClr val="21282E"/>
                </a:solidFill>
                <a:latin typeface="微软雅黑"/>
                <a:ea typeface="微软雅黑"/>
              </a:rPr>
              <a:t>留样对象（坯/底釉/各道印花/成品）、期限、对色条件——2006 年即有企业实践但执行率低，最能解决色差争议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553712"/>
            <a:ext cx="11185855" cy="749808"/>
          </a:xfrm>
          <a:prstGeom prst="roundRect">
            <a:avLst>
              <a:gd name="adj" fmla="val 6000"/>
            </a:avLst>
          </a:prstGeom>
          <a:solidFill>
            <a:srgbClr val="F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4681728"/>
            <a:ext cx="41148" cy="493776"/>
          </a:xfrm>
          <a:prstGeom prst="rect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" y="4636008"/>
            <a:ext cx="106006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E331F"/>
                </a:solidFill>
                <a:latin typeface="微软雅黑"/>
                <a:ea typeface="微软雅黑"/>
              </a:rPr>
              <a:t>② “条件”＝可校验的适用边界：</a:t>
            </a:r>
            <a:r>
              <a:rPr sz="1050" b="0" i="0">
                <a:solidFill>
                  <a:srgbClr val="21282E"/>
                </a:solidFill>
                <a:latin typeface="微软雅黑"/>
                <a:ea typeface="微软雅黑"/>
              </a:rPr>
              <a:t>同一设计文件换施釉方式/窑炉/基地不可默认可复用；换条件即重打样并留证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413248"/>
            <a:ext cx="11185855" cy="749808"/>
          </a:xfrm>
          <a:prstGeom prst="roundRect">
            <a:avLst>
              <a:gd name="adj" fmla="val 6000"/>
            </a:avLst>
          </a:prstGeom>
          <a:solidFill>
            <a:srgbClr val="F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" y="5541264"/>
            <a:ext cx="41148" cy="493776"/>
          </a:xfrm>
          <a:prstGeom prst="rect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" y="5495544"/>
            <a:ext cx="106006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E331F"/>
                </a:solidFill>
                <a:latin typeface="微软雅黑"/>
                <a:ea typeface="微软雅黑"/>
              </a:rPr>
              <a:t>③ OEM/ODM 来样单列权利审查：</a:t>
            </a:r>
            <a:r>
              <a:rPr sz="1050" b="0" i="0">
                <a:solidFill>
                  <a:srgbClr val="21282E"/>
                </a:solidFill>
                <a:latin typeface="微软雅黑"/>
                <a:ea typeface="微软雅黑"/>
              </a:rPr>
              <a:t>记录“客户图样来源＋授权声明＋权利审查结论”；佛山判例：受托方连带担责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23620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C949B"/>
                </a:solidFill>
                <a:latin typeface="微软雅黑"/>
                <a:ea typeface="微软雅黑"/>
              </a:rPr>
              <a:t>覆盖现状：2 项已系统管理（喷墨装备侧）｜12 项部分覆盖｜8 项完全空白——空白即标准价值。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5432A"/>
                </a:solidFill>
                <a:latin typeface="微软雅黑"/>
                <a:ea typeface="微软雅黑"/>
              </a:rPr>
              <a:t>08 · 对标准的意义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1282E"/>
                </a:solidFill>
                <a:latin typeface="微软雅黑"/>
                <a:ea typeface="微软雅黑"/>
              </a:rPr>
              <a:t>六字段怎么承接（对象/来源/内容/条件/使用/质量）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5855" cy="9525"/>
          </a:xfrm>
          <a:prstGeom prst="rect">
            <a:avLst/>
          </a:prstGeom>
          <a:solidFill>
            <a:srgbClr val="E7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949B"/>
                </a:solidFill>
                <a:latin typeface="微软雅黑"/>
                <a:ea typeface="微软雅黑"/>
              </a:rPr>
              <a:t>来源：[S22] 报告 v0.2 §8.2 压缩；字段框架见说明会六问题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C949B"/>
                </a:solidFill>
                <a:latin typeface="微软雅黑"/>
                <a:ea typeface="微软雅黑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88720"/>
            <a:ext cx="11185855" cy="640080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" y="1325880"/>
            <a:ext cx="877824" cy="365760"/>
          </a:xfrm>
          <a:prstGeom prst="roundRect">
            <a:avLst>
              <a:gd name="adj" fmla="val 50000"/>
            </a:avLst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312164"/>
            <a:ext cx="8778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对象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261872"/>
            <a:ext cx="26974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1282E"/>
                </a:solidFill>
                <a:latin typeface="微软雅黑"/>
                <a:ea typeface="微软雅黑"/>
              </a:rPr>
              <a:t>被管理的设计—制造数据单元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261872"/>
            <a:ext cx="6924751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45E66"/>
                </a:solidFill>
                <a:latin typeface="微软雅黑"/>
                <a:ea typeface="微软雅黑"/>
              </a:rPr>
              <a:t>“花型设计包”“喷墨分色文件”“原胎模数据”“打样记录”“首件确认单”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920240"/>
            <a:ext cx="11185855" cy="640080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" y="2057400"/>
            <a:ext cx="877824" cy="365760"/>
          </a:xfrm>
          <a:prstGeom prst="roundRect">
            <a:avLst>
              <a:gd name="adj" fmla="val 50000"/>
            </a:avLst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" y="2043684"/>
            <a:ext cx="8778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来源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1993392"/>
            <a:ext cx="26974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1282E"/>
                </a:solidFill>
                <a:latin typeface="微软雅黑"/>
                <a:ea typeface="微软雅黑"/>
              </a:rPr>
              <a:t>数据产生者与产生环节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1993392"/>
            <a:ext cx="6924751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45E66"/>
                </a:solidFill>
                <a:latin typeface="微软雅黑"/>
                <a:ea typeface="微软雅黑"/>
              </a:rPr>
              <a:t>设计部/研发中心/外部设计公司/驻厂设计师/客户来样；打样由技术部或产品经理发起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651760"/>
            <a:ext cx="11185855" cy="640080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" y="2788920"/>
            <a:ext cx="877824" cy="365760"/>
          </a:xfrm>
          <a:prstGeom prst="roundRect">
            <a:avLst>
              <a:gd name="adj" fmla="val 50000"/>
            </a:avLst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2775204"/>
            <a:ext cx="8778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内容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2724912"/>
            <a:ext cx="26974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1282E"/>
                </a:solidFill>
                <a:latin typeface="微软雅黑"/>
                <a:ea typeface="微软雅黑"/>
              </a:rPr>
              <a:t>必备项与格式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2724912"/>
            <a:ext cx="6924751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45E66"/>
                </a:solidFill>
                <a:latin typeface="微软雅黑"/>
                <a:ea typeface="微软雅黑"/>
              </a:rPr>
              <a:t>22 项接口数据；格式写死：PSD 分层、ICC 版本、STEP、网版目数与透墨量、ΔE 容限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383280"/>
            <a:ext cx="11185855" cy="640080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0936" y="3520440"/>
            <a:ext cx="877824" cy="365760"/>
          </a:xfrm>
          <a:prstGeom prst="roundRect">
            <a:avLst>
              <a:gd name="adj" fmla="val 50000"/>
            </a:avLst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" y="3506724"/>
            <a:ext cx="8778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条件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3456432"/>
            <a:ext cx="26974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1282E"/>
                </a:solidFill>
                <a:latin typeface="微软雅黑"/>
                <a:ea typeface="微软雅黑"/>
              </a:rPr>
              <a:t>数据成立/有效的边界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3456432"/>
            <a:ext cx="6924751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45E66"/>
                </a:solidFill>
                <a:latin typeface="微软雅黑"/>
                <a:ea typeface="微软雅黑"/>
              </a:rPr>
              <a:t>适用泥釉体系、窑炉与烧成曲线、机台型号与通道、版权地域与期限；换条件必须重新验证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114800"/>
            <a:ext cx="11185855" cy="640080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0936" y="4251960"/>
            <a:ext cx="877824" cy="365760"/>
          </a:xfrm>
          <a:prstGeom prst="roundRect">
            <a:avLst>
              <a:gd name="adj" fmla="val 50000"/>
            </a:avLst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" y="4238244"/>
            <a:ext cx="8778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使用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4187952"/>
            <a:ext cx="26974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1282E"/>
                </a:solidFill>
                <a:latin typeface="微软雅黑"/>
                <a:ea typeface="微软雅黑"/>
              </a:rPr>
              <a:t>谁在什么权限下怎么用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4568" y="4187952"/>
            <a:ext cx="6924751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45E66"/>
                </a:solidFill>
                <a:latin typeface="微软雅黑"/>
                <a:ea typeface="微软雅黑"/>
              </a:rPr>
              <a:t>设计→分色→制版→打样→量产→检选；外发须授权＋水印；来样先权利审查；变更走 ECN 并回溯批次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846320"/>
            <a:ext cx="11185855" cy="640080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0936" y="4983480"/>
            <a:ext cx="877824" cy="365760"/>
          </a:xfrm>
          <a:prstGeom prst="roundRect">
            <a:avLst>
              <a:gd name="adj" fmla="val 50000"/>
            </a:avLst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" y="4969764"/>
            <a:ext cx="8778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质量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91640" y="4919472"/>
            <a:ext cx="26974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1282E"/>
                </a:solidFill>
                <a:latin typeface="微软雅黑"/>
                <a:ea typeface="微软雅黑"/>
              </a:rPr>
              <a:t>判定依据与留证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44568" y="4919472"/>
            <a:ext cx="6924751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45E66"/>
                </a:solidFill>
                <a:latin typeface="微软雅黑"/>
                <a:ea typeface="微软雅黑"/>
              </a:rPr>
              <a:t>色差（ΔE/目测＋光源）、打样轮次收敛、首件签认、留样齐全、变更闭环；判定必须留样＋留记录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705856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" y="5705856"/>
            <a:ext cx="10783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E331F"/>
                </a:solidFill>
                <a:latin typeface="微软雅黑"/>
                <a:ea typeface="微软雅黑"/>
              </a:rPr>
              <a:t>措辞红线：</a:t>
            </a:r>
            <a:r>
              <a:rPr sz="1150" b="0" i="0">
                <a:solidFill>
                  <a:srgbClr val="21282E"/>
                </a:solidFill>
                <a:latin typeface="微软雅黑"/>
                <a:ea typeface="微软雅黑"/>
              </a:rPr>
              <a:t>质量等级只能是技术性分级（完整度/可复核性），不得出现「登记/评级/资质」等行政性表述（《行业标准管理办法》第六条）。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5432A"/>
                </a:solidFill>
                <a:latin typeface="微软雅黑"/>
                <a:ea typeface="微软雅黑"/>
              </a:rPr>
              <a:t>08 · 对标准的意义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1282E"/>
                </a:solidFill>
                <a:latin typeface="微软雅黑"/>
                <a:ea typeface="微软雅黑"/>
              </a:rPr>
              <a:t>条款怎么放：正文管条件，附录给表格，阈值待验证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5855" cy="9525"/>
          </a:xfrm>
          <a:prstGeom prst="rect">
            <a:avLst/>
          </a:prstGeom>
          <a:solidFill>
            <a:srgbClr val="E7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949B"/>
                </a:solidFill>
                <a:latin typeface="微软雅黑"/>
                <a:ea typeface="微软雅黑"/>
              </a:rPr>
              <a:t>来源：[S23] 组内《现有案例整理》P19 框架；濑户/韩国实践为正文提供支持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C949B"/>
                </a:solidFill>
                <a:latin typeface="微软雅黑"/>
                <a:ea typeface="微软雅黑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70432"/>
            <a:ext cx="3602736" cy="2743200"/>
          </a:xfrm>
          <a:prstGeom prst="roundRect">
            <a:avLst>
              <a:gd name="adj" fmla="val 6000"/>
            </a:avLst>
          </a:prstGeom>
          <a:solidFill>
            <a:srgbClr val="F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70432"/>
            <a:ext cx="3602736" cy="512064"/>
          </a:xfrm>
          <a:prstGeom prst="roundRect">
            <a:avLst>
              <a:gd name="adj" fmla="val 6000"/>
            </a:avLst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3602736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正文（优先已有实践支持）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1847088"/>
            <a:ext cx="3182112" cy="1975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21282E"/>
                </a:solidFill>
                <a:latin typeface="微软雅黑"/>
                <a:ea typeface="微软雅黑"/>
              </a:rPr>
              <a:t>· 进入设计前核权、来源/版本识别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21282E"/>
                </a:solidFill>
                <a:latin typeface="微软雅黑"/>
                <a:ea typeface="微软雅黑"/>
              </a:rPr>
              <a:t>· 格式与适用条件检查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21282E"/>
                </a:solidFill>
                <a:latin typeface="微软雅黑"/>
                <a:ea typeface="微软雅黑"/>
              </a:rPr>
              <a:t>· 选用修改、必要工艺审核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21282E"/>
                </a:solidFill>
                <a:latin typeface="微软雅黑"/>
                <a:ea typeface="微软雅黑"/>
              </a:rPr>
              <a:t>· 衍生关联、交付及异常反馈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3107" y="1170432"/>
            <a:ext cx="3602736" cy="2743200"/>
          </a:xfrm>
          <a:prstGeom prst="roundRect">
            <a:avLst>
              <a:gd name="adj" fmla="val 6000"/>
            </a:avLst>
          </a:prstGeom>
          <a:solidFill>
            <a:srgbClr val="E9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3107" y="1170432"/>
            <a:ext cx="3602736" cy="512064"/>
          </a:xfrm>
          <a:prstGeom prst="roundRect">
            <a:avLst>
              <a:gd name="adj" fmla="val 6000"/>
            </a:avLst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3107" y="1170432"/>
            <a:ext cx="3602736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资料性附录（先做字段与记录表试用）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2563" y="1847088"/>
            <a:ext cx="3182112" cy="1975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21282E"/>
                </a:solidFill>
                <a:latin typeface="微软雅黑"/>
                <a:ea typeface="微软雅黑"/>
              </a:rPr>
              <a:t>· 资产信息表、设计使用记录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21282E"/>
                </a:solidFill>
                <a:latin typeface="微软雅黑"/>
                <a:ea typeface="微软雅黑"/>
              </a:rPr>
              <a:t>· 适配审核表、交付清单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21282E"/>
                </a:solidFill>
                <a:latin typeface="微软雅黑"/>
                <a:ea typeface="微软雅黑"/>
              </a:rPr>
              <a:t>· 按纹样/器型/工艺知识给字段示例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21282E"/>
                </a:solidFill>
                <a:latin typeface="微软雅黑"/>
                <a:ea typeface="微软雅黑"/>
              </a:rPr>
              <a:t>· 存在关联才填关联对象，不强求全链贯通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4" y="1170432"/>
            <a:ext cx="3602736" cy="2743200"/>
          </a:xfrm>
          <a:prstGeom prst="roundRect">
            <a:avLst>
              <a:gd name="adj" fmla="val 6000"/>
            </a:avLst>
          </a:prstGeom>
          <a:solidFill>
            <a:srgbClr val="F7E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83294" y="1170432"/>
            <a:ext cx="3602736" cy="512064"/>
          </a:xfrm>
          <a:prstGeom prst="roundRect">
            <a:avLst>
              <a:gd name="adj" fmla="val 6000"/>
            </a:avLst>
          </a:prstGeom>
          <a:solidFill>
            <a:srgbClr val="A97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4" y="1170432"/>
            <a:ext cx="3602736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待验证后决定（不提前固化）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0" y="1847088"/>
            <a:ext cx="3182112" cy="1975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21282E"/>
                </a:solidFill>
                <a:latin typeface="微软雅黑"/>
                <a:ea typeface="微软雅黑"/>
              </a:rPr>
              <a:t>· 最低字段必填条件、颗粒度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21282E"/>
                </a:solidFill>
                <a:latin typeface="微软雅黑"/>
                <a:ea typeface="微软雅黑"/>
              </a:rPr>
              <a:t>· 版本变更触发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21282E"/>
                </a:solidFill>
                <a:latin typeface="微软雅黑"/>
                <a:ea typeface="微软雅黑"/>
              </a:rPr>
              <a:t>· AI 辅助设计记录、接口示例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21282E"/>
                </a:solidFill>
                <a:latin typeface="微软雅黑"/>
                <a:ea typeface="微软雅黑"/>
              </a:rPr>
              <a:t>· 判定阈值——以真实样本检验可获取、可检查性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160520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160520"/>
            <a:ext cx="10783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1282E"/>
                </a:solidFill>
                <a:latin typeface="微软雅黑"/>
                <a:ea typeface="微软雅黑"/>
              </a:rPr>
              <a:t>标准衔接（上游引用、不重复制定）：</a:t>
            </a:r>
            <a:r>
              <a:rPr sz="1000" b="0" i="0">
                <a:solidFill>
                  <a:srgbClr val="545E66"/>
                </a:solidFill>
                <a:latin typeface="微软雅黑"/>
                <a:ea typeface="微软雅黑"/>
              </a:rPr>
              <a:t>元数据 GB/T 26816—2025｜数据质量 GB/T 36344—2018｜工业设计术语 GB/T 46965—2026｜传统技艺采集著录 WH/T 99.9—2023｜陶瓷文物数据元 DB11/T 1219.3—2022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29200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5029200"/>
            <a:ext cx="10783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E331F"/>
                </a:solidFill>
                <a:latin typeface="微软雅黑"/>
                <a:ea typeface="微软雅黑"/>
              </a:rPr>
              <a:t>团队分工提示：</a:t>
            </a:r>
            <a:r>
              <a:rPr sz="1150" b="0" i="0">
                <a:solidFill>
                  <a:srgbClr val="21282E"/>
                </a:solidFill>
                <a:latin typeface="微软雅黑"/>
                <a:ea typeface="微软雅黑"/>
              </a:rPr>
              <a:t>本页框架来自组内案例整理的修订建议，供会上讨论——按项目分工再定谁细化哪一章。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5432A"/>
                </a:solidFill>
                <a:latin typeface="微软雅黑"/>
                <a:ea typeface="微软雅黑"/>
              </a:rPr>
              <a:t>09 · 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1282E"/>
                </a:solidFill>
                <a:latin typeface="微软雅黑"/>
                <a:ea typeface="微软雅黑"/>
              </a:rPr>
              <a:t>三件排期 ＋ 三个请示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5855" cy="9525"/>
          </a:xfrm>
          <a:prstGeom prst="rect">
            <a:avLst/>
          </a:prstGeom>
          <a:solidFill>
            <a:srgbClr val="E7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949B"/>
                </a:solidFill>
                <a:latin typeface="微软雅黑"/>
                <a:ea typeface="微软雅黑"/>
              </a:rPr>
              <a:t>来源：[S22][S23]；访谈名单待定（白纸 2026-10-23 决定先不定）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C949B"/>
                </a:solidFill>
                <a:latin typeface="微软雅黑"/>
                <a:ea typeface="微软雅黑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70432"/>
            <a:ext cx="3602736" cy="2103120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298448"/>
            <a:ext cx="41148" cy="1847088"/>
          </a:xfrm>
          <a:prstGeom prst="rect">
            <a:avLst/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98448"/>
            <a:ext cx="3200400" cy="184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1282E"/>
                </a:solidFill>
                <a:latin typeface="微软雅黑"/>
                <a:ea typeface="微软雅黑"/>
              </a:rPr>
              <a:t>访谈 2–3 家企业（名单待定）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45E66"/>
                </a:solidFill>
                <a:latin typeface="微软雅黑"/>
                <a:ea typeface="微软雅黑"/>
              </a:rPr>
              <a:t>佛山 1 家建陶/岩板＋潮州 1 家日用或卫浴，最好约到 CIO/信息化负责人。核心三问：花型文件怎么发/改几版/谁签样；换基地/换釉/换窑要重做什么；色差怎么判、留样留多久、出问题怎么回溯。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3107" y="1170432"/>
            <a:ext cx="3602736" cy="2103120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4547" y="1298448"/>
            <a:ext cx="41148" cy="1847088"/>
          </a:xfrm>
          <a:prstGeom prst="rect">
            <a:avLst/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7427" y="1298448"/>
            <a:ext cx="3200400" cy="184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1282E"/>
                </a:solidFill>
                <a:latin typeface="微软雅黑"/>
                <a:ea typeface="微软雅黑"/>
              </a:rPr>
              <a:t>景德镇交流（P0/P1）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45E66"/>
                </a:solidFill>
                <a:latin typeface="微软雅黑"/>
                <a:ea typeface="微软雅黑"/>
              </a:rPr>
              <a:t>P0：御窑博物院技术团队（分类目录/词表/脱敏样例＋一个真实设计—试制—交付案例）＋权利负责人（许可模板/商用条件）。P1：工艺企业（适配、返工或失败记录）。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4" y="1170432"/>
            <a:ext cx="3602736" cy="2103120"/>
          </a:xfrm>
          <a:prstGeom prst="roundRect">
            <a:avLst>
              <a:gd name="adj" fmla="val 6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4734" y="1298448"/>
            <a:ext cx="41148" cy="1847088"/>
          </a:xfrm>
          <a:prstGeom prst="rect">
            <a:avLst/>
          </a:prstGeom>
          <a:solidFill>
            <a:srgbClr val="3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4" y="1298448"/>
            <a:ext cx="3200400" cy="184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1282E"/>
                </a:solidFill>
                <a:latin typeface="微软雅黑"/>
                <a:ea typeface="微软雅黑"/>
              </a:rPr>
              <a:t>标准查新留证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45E66"/>
                </a:solidFill>
                <a:latin typeface="微软雅黑"/>
                <a:ea typeface="微软雅黑"/>
              </a:rPr>
              <a:t>陶瓷领域是否已有数字资产/纹样/工艺数据元标准：全国标准信息平台高级检索＋ICS 类目交叉＋截图留证。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4564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331F"/>
                </a:solidFill>
                <a:latin typeface="微软雅黑"/>
                <a:ea typeface="微软雅黑"/>
              </a:rPr>
              <a:t>需会上定的三个问题（请杨老师/团队）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849624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835908"/>
            <a:ext cx="5669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Q1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1016" y="3822192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1282E"/>
                </a:solidFill>
                <a:latin typeface="微软雅黑"/>
                <a:ea typeface="微软雅黑"/>
              </a:rPr>
              <a:t>六字段“ISO 口径”的具体出处是哪份 ISO 标准/工作组？——标准文本需要可引用依据，不能停留在说法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379976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366260"/>
            <a:ext cx="5669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Q2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1016" y="4352544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1282E"/>
                </a:solidFill>
                <a:latin typeface="微软雅黑"/>
                <a:ea typeface="微软雅黑"/>
              </a:rPr>
              <a:t>CCDA × 中陶协的架构与团标（T/CCIA）先行路径是否成立？——协会（社团）不能自行发布行标；中陶协团标通道已打通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910328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896612"/>
            <a:ext cx="5669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Q3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1016" y="4882896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1282E"/>
                </a:solidFill>
                <a:latin typeface="微软雅黑"/>
                <a:ea typeface="微软雅黑"/>
              </a:rPr>
              <a:t>项目周期节点（立项/征求意见/送审/报批）与分工？——决定投入节奏与交付物深度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532120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8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5532120"/>
            <a:ext cx="107835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E331F"/>
                </a:solidFill>
                <a:latin typeface="微软雅黑"/>
                <a:ea typeface="微软雅黑"/>
              </a:rPr>
              <a:t>一句话收尾：</a:t>
            </a:r>
            <a:r>
              <a:rPr sz="1150" b="0" i="0">
                <a:solidFill>
                  <a:srgbClr val="21282E"/>
                </a:solidFill>
                <a:latin typeface="微软雅黑"/>
                <a:ea typeface="微软雅黑"/>
              </a:rPr>
              <a:t>广东已经把“制造”和“数据交易”跑通了——本标准补上“设计资产怎么交接”这最后一环。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B5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5432A"/>
                </a:solidFill>
                <a:latin typeface="微软雅黑"/>
                <a:ea typeface="微软雅黑"/>
              </a:rPr>
              <a:t>附录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1282E"/>
                </a:solidFill>
                <a:latin typeface="微软雅黑"/>
                <a:ea typeface="微软雅黑"/>
              </a:rPr>
              <a:t>来源清单（每页脚注编号对应此处）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5855" cy="9525"/>
          </a:xfrm>
          <a:prstGeom prst="rect">
            <a:avLst/>
          </a:prstGeom>
          <a:solidFill>
            <a:srgbClr val="E7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949B"/>
                </a:solidFill>
                <a:latin typeface="微软雅黑"/>
                <a:ea typeface="微软雅黑"/>
              </a:rPr>
              <a:t>来源：证据分级：[核实]=打开过原文；[部分核实]=检索快照/企业自述/政府转述；引用前回链复核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C949B"/>
                </a:solidFill>
                <a:latin typeface="微软雅黑"/>
                <a:ea typeface="微软雅黑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331F"/>
                </a:solidFill>
                <a:latin typeface="微软雅黑"/>
                <a:ea typeface="微软雅黑"/>
              </a:rPr>
              <a:t>广东 · 数字化与政策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539496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45E66"/>
                </a:solidFill>
                <a:latin typeface="微软雅黑"/>
                <a:ea typeface="微软雅黑"/>
              </a:rPr>
              <a:t>[S1] 潮州日报（凤凰网转）《陶韵赋新智》2026-10-08 · feng.ifeng.com/c/8x3JxwWMFnz · [核实]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45E66"/>
                </a:solidFill>
                <a:latin typeface="微软雅黑"/>
                <a:ea typeface="微软雅黑"/>
              </a:rPr>
              <a:t>[S2] 中新网《佛山加速智造强市转型》2026-10-09 · chinanews.com.cn · [部分核实]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45E66"/>
                </a:solidFill>
                <a:latin typeface="微软雅黑"/>
                <a:ea typeface="微软雅黑"/>
              </a:rPr>
              <a:t>[S3] 21 经济《佛山建陶数字化转型白皮书》2024-02 · 21jingji.com · [部分核实]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45E66"/>
                </a:solidFill>
                <a:latin typeface="微软雅黑"/>
                <a:ea typeface="微软雅黑"/>
              </a:rPr>
              <a:t>[S4] 佛山市政府网《数据要素+陶瓷产业》 · foshan.gov.cn · [部分核实]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67712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331F"/>
                </a:solidFill>
                <a:latin typeface="微软雅黑"/>
                <a:ea typeface="微软雅黑"/>
              </a:rPr>
              <a:t>广东 · 数据资产化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23744"/>
            <a:ext cx="5394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45E66"/>
                </a:solidFill>
                <a:latin typeface="微软雅黑"/>
                <a:ea typeface="微软雅黑"/>
              </a:rPr>
              <a:t>[S5] 万联网《众陶联：以数据要素为驱动》2024-08 · 10000link.com · [部分核实]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45E66"/>
                </a:solidFill>
                <a:latin typeface="微软雅黑"/>
                <a:ea typeface="微软雅黑"/>
              </a:rPr>
              <a:t>[S6] 南都《众陶联交易证据链证书…税负降三成》2023-09 · oeeee.com · [部分核实]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45E66"/>
                </a:solidFill>
                <a:latin typeface="微软雅黑"/>
                <a:ea typeface="微软雅黑"/>
              </a:rPr>
              <a:t>[S7] 21 经济《解密众陶联数据产品》2023-09 · 21jingji.com · [部分核实]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45E66"/>
                </a:solidFill>
                <a:latin typeface="微软雅黑"/>
                <a:ea typeface="微软雅黑"/>
              </a:rPr>
              <a:t>[S8] 新华社《陶瓷指纹：区块链助力版权保护》 · ipeconomy.cn · [部分核实]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45E66"/>
                </a:solidFill>
                <a:latin typeface="微软雅黑"/>
                <a:ea typeface="微软雅黑"/>
              </a:rPr>
              <a:t>[S9] 大江网《给陶瓷产品办数字身份证》2026-06 · ddjiangxi.com · [部分核实]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15868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331F"/>
                </a:solidFill>
                <a:latin typeface="微软雅黑"/>
                <a:ea typeface="微软雅黑"/>
              </a:rPr>
              <a:t>广东 · 设计—企业对接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71900"/>
            <a:ext cx="5394960" cy="2724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45E66"/>
                </a:solidFill>
                <a:latin typeface="微软雅黑"/>
                <a:ea typeface="微软雅黑"/>
              </a:rPr>
              <a:t>[S10] 花城+《广东工业设计城禅城创新中心》2024-12 · gz-cmc.com · [核实]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45E66"/>
                </a:solidFill>
                <a:latin typeface="微软雅黑"/>
                <a:ea typeface="微软雅黑"/>
              </a:rPr>
              <a:t>[S11] 佛山+《鹰创园：四大平台》2020-12 · foshanplus.com · [部分核实]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45E66"/>
                </a:solidFill>
                <a:latin typeface="微软雅黑"/>
                <a:ea typeface="微软雅黑"/>
              </a:rPr>
              <a:t>[S12] 搜狐/禅城融媒《鹰创园：从陶瓷基地到转型载体》 · sohu.com · [部分核实]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45E66"/>
                </a:solidFill>
                <a:latin typeface="微软雅黑"/>
                <a:ea typeface="微软雅黑"/>
              </a:rPr>
              <a:t>[S13] 南方网《潮州以工业设计赋能制造业》2024-09 · nfnews.com · [部分核实]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45E66"/>
                </a:solidFill>
                <a:latin typeface="微软雅黑"/>
                <a:ea typeface="微软雅黑"/>
              </a:rPr>
              <a:t>[S14] 潮州政府网·高质量发展大会分会场（中潮基地） · chaozhou.gov.cn · [部分核实]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45E66"/>
                </a:solidFill>
                <a:latin typeface="微软雅黑"/>
                <a:ea typeface="微软雅黑"/>
              </a:rPr>
              <a:t>[S15] 清华美院《“折忆折”获奖报道》2021-01 · ad.tsinghua.edu.cn · [核实]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45E66"/>
                </a:solidFill>
                <a:latin typeface="微软雅黑"/>
                <a:ea typeface="微软雅黑"/>
              </a:rPr>
              <a:t>[S16] 花城+《2025 中国陶瓷创意周》2025-12 · gz-cmc.com · [部分核实]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45E66"/>
                </a:solidFill>
                <a:latin typeface="微软雅黑"/>
                <a:ea typeface="微软雅黑"/>
              </a:rPr>
              <a:t>[S17] 佛山+《“石湾公仔”创新合作对接会》 · foshanplus.com · [部分核实]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45E66"/>
                </a:solidFill>
                <a:latin typeface="微软雅黑"/>
                <a:ea typeface="微软雅黑"/>
              </a:rPr>
              <a:t>[S18] 国家版权局《原创 IP 馆亮相佛山》2020-07 · ncac.gov.cn · [部分核实]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45E66"/>
                </a:solidFill>
                <a:latin typeface="微软雅黑"/>
                <a:ea typeface="微软雅黑"/>
              </a:rPr>
              <a:t>[S19] 潮州日报《陶瓷灯饰设计大赛评审出炉》2025-05 · chaozhoudaily.com · [部分核实]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45E66"/>
                </a:solidFill>
                <a:latin typeface="微软雅黑"/>
                <a:ea typeface="微软雅黑"/>
              </a:rPr>
              <a:t>[S20] 中国网《省陶瓷艺术创作设计创新大赛落地潮州》2025-01 · china.com.cn · [部分核实]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45E66"/>
                </a:solidFill>
                <a:latin typeface="微软雅黑"/>
                <a:ea typeface="微软雅黑"/>
              </a:rPr>
              <a:t>[S21] 酷家乐官网（模型库/用户数） · kujiale.com · [部分核实]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188720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331F"/>
                </a:solidFill>
                <a:latin typeface="微软雅黑"/>
                <a:ea typeface="微软雅黑"/>
              </a:rPr>
              <a:t>项目底稿（内部）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444752"/>
            <a:ext cx="539496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45E66"/>
                </a:solidFill>
                <a:latin typeface="微软雅黑"/>
                <a:ea typeface="微软雅黑"/>
              </a:rPr>
              <a:t>[S22] 《广东陶瓷产业调研报告 v0.2》＋五条分线调研 note（2026-10-22）· bAI/bAI/notes/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45E66"/>
                </a:solidFill>
                <a:latin typeface="微软雅黑"/>
                <a:ea typeface="微软雅黑"/>
              </a:rPr>
              <a:t>　　产业地图 / 工艺链 / 设计—制造连接 / 数字化现况 / 设计企业对接平台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45E66"/>
                </a:solidFill>
                <a:latin typeface="微软雅黑"/>
                <a:ea typeface="微软雅黑"/>
              </a:rPr>
              <a:t>[S23] 组内《陶瓷技艺数字资产 现有案例整理》PDF 21 页（2026-10 提供）· raw/ 存档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45E66"/>
                </a:solidFill>
                <a:latin typeface="微软雅黑"/>
                <a:ea typeface="微软雅黑"/>
              </a:rPr>
              <a:t>　　景德镇/日/韩/欧盟对标与“正文 vs 附录”框架的原始出处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67712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331F"/>
                </a:solidFill>
                <a:latin typeface="微软雅黑"/>
                <a:ea typeface="微软雅黑"/>
              </a:rPr>
              <a:t>使用声明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523744"/>
            <a:ext cx="539496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45E66"/>
                </a:solidFill>
                <a:latin typeface="微软雅黑"/>
                <a:ea typeface="微软雅黑"/>
              </a:rPr>
              <a:t>1. 本报告为项目内部研究稿；标准未发布，材料不外传、不上传、不公开引用。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45E66"/>
                </a:solidFill>
                <a:latin typeface="微软雅黑"/>
                <a:ea typeface="微软雅黑"/>
              </a:rPr>
              <a:t>2. 标[部分核实]的内容，未经回链复核不写入标准正文。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45E66"/>
                </a:solidFill>
                <a:latin typeface="微软雅黑"/>
                <a:ea typeface="微软雅黑"/>
              </a:rPr>
              <a:t>3. 对外引用任何数据前，按证据分级回访原始链接复核。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45E66"/>
                </a:solidFill>
                <a:latin typeface="微软雅黑"/>
                <a:ea typeface="微软雅黑"/>
              </a:rPr>
              <a:t>4. 调研不含访谈；企业内部系统实况（PLM/花型版本/网版/ECN）为检索性负面证据，需访谈确认。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广东陶瓷数字化现况与设计—企业对接调研汇报</dc:title>
  <dc:subject/>
  <dc:creator>陈柏志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